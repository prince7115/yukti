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ASER's 2023 survey of nearly 35,000 rural teenagers, 40% of boys and 28% of girls were already working, mostly on family farms, yet only 5.6% were in any vocational training. Meanwhile 29% of graduates are unemployed, and more than half of ITI seats lie empty. And one in four of these teenagers can't fluently read a Class 2 text, but nine in ten have a smartphone at home. That's why we built for voice.
(If asked about counselling: advocacy estimates suggest 90%+ of Indian schools have no professional counsellor. That's not an official statistic, so it isn't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rely on relatives, overstretched teachers (only 36% of ITI instructor posts are filled), English test apps when only 57% can read English sentences, and portals that only one in four rural teens has ever used for an online service. Even great free programmes like Suryamitra have trained about 60,000 people in total. Each solves a piece; none listens, shows the money, or brings the parents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Rahul speaks his day in Hindi; the AI finds his skills and quotes his words as proof. Our engine builds ladders from official data, always with a vocational, a non-STEM and a surprise option. The Kamai Calculator uses official rates: after a two-year ITI, an apprentice earns at least ₹9,600 a month, and then the free Suryamitra solar course opens up. One tap sends a voice note to his father, because research from Bhutan shows parents' doubts are what block vocational paths. And randomised trials in the Dominican Republic and in Indian villages show that real earnings information and placement help change what young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north star is students who enrol in a skill path or start earning within two years. Every target sits next to today's reality: only 5.6% take vocational training today, and we aim for 40% to explore it. A degree means five years of study after Class 10, then a 29% chance of unemployment; we target a first income within 24 months. And it's affordable: about 13 paise of AI cost per student session.
AI cost calculation (illustrative): OpenAI gpt-4o-mini at $0.15 per 1M input tokens and $0.60 per 1M output tokens. A full session is ~3,500 input + ~1,500 output tokens (skill extraction + 4 explanations + 1 parent message): 3,500 × $0.15/1M + 1,500 × $0.60/1M = $0.0014 ≈ ₹0.13 at ~₹88/$. Even at 3× tokens for Indian scripts, under ₹0.50 per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your day, and see your skills, your path and your first income, and bring your family along. We listen instead of testing, because one in four of these students struggles to read. We widen options with official data instead of guesses. And we talk to the parents who actually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us as Google Maps for rural careers. Your skills are your location. We show every route, including ones you'd never search for, with the travel time in months to first income and the toll in cost and stipend. For example: two years of ITI, then an apprenticeship paying at least ₹9,600 a month, then a free solar course. And you navigate by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call an AI API. What can't be bought is our flywheel. Only about 4% of India's workforce has formal vocational training, so most people's skills exist nowhere on paper. Every story we hear links real village activities to skills and, over time, to outcomes. Better matches convince parents, which leads to more placements, which brings in more teachers and partners. And because the AI only explains while data decides, it costs about 13 paise per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need to build a network; India already has one. Nearly 15,000 ITIs with 25 lakh seats, about 10 crore women in self-help groups, and almost 6 lakh Common Service Centres, most of them at gram-panchayat level. Teachers onboard whole classes on one phone, and every Parent Pitch spreads on WhatsApp, which 90% of rural teens use weekly. We start in two tribal districts, then one state, then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253 million adolescents, about 17 crore of them in rural areas. Students, teachers, parents and mentors use Yukti free. The payers are organisations that need skilled rural talent: CSR, which put over ₹10,000 crore into education in one year; employers, who pay most of every apprentice's stipend; training partners with half-empty seats; and state skill missions. We start with students in tribal districts of Jharkhand and Odisha.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DDEBF7"/>
          </a:solidFill>
          <a:ln w="12700">
            <a:solidFill>
              <a:srgbClr val="DDEBF7"/>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Problem</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List of the top 1 to 3 problems your target customers face. How prevalent are the problems?</a:t>
            </a:r>
            <a:endParaRPr lang="en-US" sz="1200" dirty="0"/>
          </a:p>
        </p:txBody>
      </p:sp>
      <p:sp>
        <p:nvSpPr>
          <p:cNvPr id="8" name="Text 6"/>
          <p:cNvSpPr txBox="1"/>
          <p:nvPr/>
        </p:nvSpPr>
        <p:spPr>
          <a:xfrm>
            <a:off x="548640" y="1207008"/>
            <a:ext cx="11094415" cy="621792"/>
          </a:xfrm>
          <a:prstGeom prst="rect">
            <a:avLst/>
          </a:prstGeom>
          <a:noFill/>
          <a:ln/>
        </p:spPr>
        <p:txBody>
          <a:bodyPr wrap="square" lIns="0" tIns="0" rIns="0" bIns="0" rtlCol="0" anchor="t"/>
          <a:lstStyle/>
          <a:p>
            <a:pPr indent="0" marL="0">
              <a:buNone/>
            </a:pPr>
            <a:r>
              <a:rPr lang="en-US" sz="1800" b="1" dirty="0">
                <a:solidFill>
                  <a:srgbClr val="1E3A8A"/>
                </a:solidFill>
                <a:latin typeface="Calibri" pitchFamily="34" charset="0"/>
                <a:ea typeface="Calibri" pitchFamily="34" charset="-122"/>
                <a:cs typeface="Calibri" pitchFamily="34" charset="-120"/>
              </a:rPr>
              <a:t>Rural teenagers already work, but no one counts it as a skill. Degrees don't guarantee jobs, and the doors that do exist stay half-empty.</a:t>
            </a:r>
            <a:endParaRPr lang="en-US" sz="1800" dirty="0"/>
          </a:p>
        </p:txBody>
      </p:sp>
      <p:sp>
        <p:nvSpPr>
          <p:cNvPr id="9" name="Text 7"/>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10" name="Text 8"/>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1/9</a:t>
            </a:r>
            <a:endParaRPr lang="en-US" sz="1000" dirty="0"/>
          </a:p>
        </p:txBody>
      </p:sp>
      <p:sp>
        <p:nvSpPr>
          <p:cNvPr id="12" name="card"/>
          <p:cNvSpPr/>
          <p:nvPr/>
        </p:nvSpPr>
        <p:spPr>
          <a:xfrm>
            <a:off x="548640" y="1920240"/>
            <a:ext cx="3515258" cy="3246120"/>
          </a:xfrm>
          <a:prstGeom prst="roundRect">
            <a:avLst>
              <a:gd name="adj" fmla="val 2254"/>
            </a:avLst>
          </a:prstGeom>
          <a:solidFill>
            <a:srgbClr val="F8FAFC"/>
          </a:solidFill>
          <a:ln w="9525">
            <a:solidFill>
              <a:srgbClr val="E2E8F0"/>
            </a:solidFill>
            <a:prstDash val="solid"/>
          </a:ln>
        </p:spPr>
      </p:sp>
      <p:sp>
        <p:nvSpPr>
          <p:cNvPr id="13" name="icon-circle"/>
          <p:cNvSpPr/>
          <p:nvPr/>
        </p:nvSpPr>
        <p:spPr>
          <a:xfrm>
            <a:off x="777240" y="2148840"/>
            <a:ext cx="548640" cy="548640"/>
          </a:xfrm>
          <a:prstGeom prst="ellipse">
            <a:avLst/>
          </a:prstGeom>
          <a:solidFill>
            <a:srgbClr val="1E3A8A"/>
          </a:solidFill>
          <a:ln w="12700">
            <a:solidFill>
              <a:srgbClr val="1E3A8A"/>
            </a:solidFill>
            <a:prstDash val="solid"/>
          </a:ln>
        </p:spPr>
      </p:sp>
      <p:pic>
        <p:nvPicPr>
          <p:cNvPr id="14" name="icon" descr="preencoded.png">    </p:cNvPr>
          <p:cNvPicPr>
            <a:picLocks noChangeAspect="1"/>
          </p:cNvPicPr>
          <p:nvPr/>
        </p:nvPicPr>
        <p:blipFill>
          <a:blip r:embed="rId1"/>
          <a:stretch>
            <a:fillRect/>
          </a:stretch>
        </p:blipFill>
        <p:spPr>
          <a:xfrm>
            <a:off x="908914" y="2280514"/>
            <a:ext cx="285293" cy="285293"/>
          </a:xfrm>
          <a:prstGeom prst="rect">
            <a:avLst/>
          </a:prstGeom>
        </p:spPr>
      </p:pic>
      <p:sp>
        <p:nvSpPr>
          <p:cNvPr id="15" name="Text 11"/>
          <p:cNvSpPr txBox="1"/>
          <p:nvPr/>
        </p:nvSpPr>
        <p:spPr>
          <a:xfrm>
            <a:off x="1463040" y="2148840"/>
            <a:ext cx="2417978" cy="56692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1 · Real skills, never counted</a:t>
            </a:r>
            <a:endParaRPr lang="en-US" sz="1400" dirty="0"/>
          </a:p>
        </p:txBody>
      </p:sp>
      <p:sp>
        <p:nvSpPr>
          <p:cNvPr id="16" name="Text 12"/>
          <p:cNvSpPr txBox="1"/>
          <p:nvPr/>
        </p:nvSpPr>
        <p:spPr>
          <a:xfrm>
            <a:off x="777240" y="2834640"/>
            <a:ext cx="3058058" cy="6858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Teenagers work on family farms, shops and repairs, but nobody turns that into a recognised skill or path.</a:t>
            </a:r>
            <a:endParaRPr lang="en-US" sz="1150" dirty="0"/>
          </a:p>
        </p:txBody>
      </p:sp>
      <p:sp>
        <p:nvSpPr>
          <p:cNvPr id="17" name="Text 13"/>
          <p:cNvSpPr txBox="1"/>
          <p:nvPr/>
        </p:nvSpPr>
        <p:spPr>
          <a:xfrm>
            <a:off x="777240" y="3520440"/>
            <a:ext cx="3058058" cy="594360"/>
          </a:xfrm>
          <a:prstGeom prst="rect">
            <a:avLst/>
          </a:prstGeom>
          <a:noFill/>
          <a:ln/>
        </p:spPr>
        <p:txBody>
          <a:bodyPr wrap="square" lIns="0" tIns="0" rIns="0" bIns="0" rtlCol="0" anchor="ctr"/>
          <a:lstStyle/>
          <a:p>
            <a:pPr indent="0" marL="0">
              <a:buNone/>
            </a:pPr>
            <a:r>
              <a:rPr lang="en-US" sz="3600" b="1" dirty="0">
                <a:solidFill>
                  <a:srgbClr val="1E3A8A"/>
                </a:solidFill>
                <a:latin typeface="Calibri" pitchFamily="34" charset="0"/>
                <a:ea typeface="Calibri" pitchFamily="34" charset="-122"/>
                <a:cs typeface="Calibri" pitchFamily="34" charset="-120"/>
              </a:rPr>
              <a:t>40% · 28%</a:t>
            </a:r>
            <a:endParaRPr lang="en-US" sz="3600" dirty="0"/>
          </a:p>
        </p:txBody>
      </p:sp>
      <p:sp>
        <p:nvSpPr>
          <p:cNvPr id="18" name="Text 14"/>
          <p:cNvSpPr txBox="1"/>
          <p:nvPr/>
        </p:nvSpPr>
        <p:spPr>
          <a:xfrm>
            <a:off x="777240" y="4114800"/>
            <a:ext cx="3058058" cy="4572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of rural boys · girls aged 14–18 already do work beyond housework, mostly on family farms</a:t>
            </a:r>
            <a:endParaRPr lang="en-US" sz="1050" dirty="0"/>
          </a:p>
        </p:txBody>
      </p:sp>
      <p:sp>
        <p:nvSpPr>
          <p:cNvPr id="19" name="Text 15"/>
          <p:cNvSpPr txBox="1"/>
          <p:nvPr/>
        </p:nvSpPr>
        <p:spPr>
          <a:xfrm>
            <a:off x="777240" y="4590288"/>
            <a:ext cx="3058058" cy="5029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Yet only </a:t>
            </a:r>
            <a:pPr indent="0" marL="0">
              <a:buNone/>
            </a:pPr>
            <a:r>
              <a:rPr lang="en-US" sz="1100" b="1" dirty="0">
                <a:solidFill>
                  <a:srgbClr val="1E3A8A"/>
                </a:solidFill>
                <a:latin typeface="Calibri" pitchFamily="34" charset="0"/>
                <a:ea typeface="Calibri" pitchFamily="34" charset="-122"/>
                <a:cs typeface="Calibri" pitchFamily="34" charset="-120"/>
              </a:rPr>
              <a:t>5.6%</a:t>
            </a:r>
            <a:pPr indent="0" marL="0">
              <a:buNone/>
            </a:pPr>
            <a:r>
              <a:rPr lang="en-US" sz="1100" dirty="0">
                <a:solidFill>
                  <a:srgbClr val="1F2937"/>
                </a:solidFill>
                <a:latin typeface="Calibri" pitchFamily="34" charset="0"/>
                <a:ea typeface="Calibri" pitchFamily="34" charset="-122"/>
                <a:cs typeface="Calibri" pitchFamily="34" charset="-120"/>
              </a:rPr>
              <a:t> take any vocational training</a:t>
            </a:r>
            <a:endParaRPr lang="en-US" sz="1100" dirty="0"/>
          </a:p>
        </p:txBody>
      </p:sp>
      <p:sp>
        <p:nvSpPr>
          <p:cNvPr id="20" name="card"/>
          <p:cNvSpPr/>
          <p:nvPr/>
        </p:nvSpPr>
        <p:spPr>
          <a:xfrm>
            <a:off x="4338218" y="1920240"/>
            <a:ext cx="3515258" cy="3246120"/>
          </a:xfrm>
          <a:prstGeom prst="roundRect">
            <a:avLst>
              <a:gd name="adj" fmla="val 2254"/>
            </a:avLst>
          </a:prstGeom>
          <a:solidFill>
            <a:srgbClr val="F8FAFC"/>
          </a:solidFill>
          <a:ln w="9525">
            <a:solidFill>
              <a:srgbClr val="E2E8F0"/>
            </a:solidFill>
            <a:prstDash val="solid"/>
          </a:ln>
        </p:spPr>
      </p:sp>
      <p:sp>
        <p:nvSpPr>
          <p:cNvPr id="21" name="icon-circle"/>
          <p:cNvSpPr/>
          <p:nvPr/>
        </p:nvSpPr>
        <p:spPr>
          <a:xfrm>
            <a:off x="4566818" y="2148840"/>
            <a:ext cx="548640" cy="548640"/>
          </a:xfrm>
          <a:prstGeom prst="ellipse">
            <a:avLst/>
          </a:prstGeom>
          <a:solidFill>
            <a:srgbClr val="1E3A8A"/>
          </a:solidFill>
          <a:ln w="12700">
            <a:solidFill>
              <a:srgbClr val="1E3A8A"/>
            </a:solidFill>
            <a:prstDash val="solid"/>
          </a:ln>
        </p:spPr>
      </p:sp>
      <p:pic>
        <p:nvPicPr>
          <p:cNvPr id="22" name="icon" descr="preencoded.png">    </p:cNvPr>
          <p:cNvPicPr>
            <a:picLocks noChangeAspect="1"/>
          </p:cNvPicPr>
          <p:nvPr/>
        </p:nvPicPr>
        <p:blipFill>
          <a:blip r:embed="rId2"/>
          <a:stretch>
            <a:fillRect/>
          </a:stretch>
        </p:blipFill>
        <p:spPr>
          <a:xfrm>
            <a:off x="4698492" y="2280514"/>
            <a:ext cx="285293" cy="285293"/>
          </a:xfrm>
          <a:prstGeom prst="rect">
            <a:avLst/>
          </a:prstGeom>
        </p:spPr>
      </p:pic>
      <p:sp>
        <p:nvSpPr>
          <p:cNvPr id="23" name="Text 18"/>
          <p:cNvSpPr txBox="1"/>
          <p:nvPr/>
        </p:nvSpPr>
        <p:spPr>
          <a:xfrm>
            <a:off x="5252618" y="2148840"/>
            <a:ext cx="2417978" cy="56692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2 · Degree ≠ job, and families decide blind</a:t>
            </a:r>
            <a:endParaRPr lang="en-US" sz="1400" dirty="0"/>
          </a:p>
        </p:txBody>
      </p:sp>
      <p:sp>
        <p:nvSpPr>
          <p:cNvPr id="24" name="Text 19"/>
          <p:cNvSpPr txBox="1"/>
          <p:nvPr/>
        </p:nvSpPr>
        <p:spPr>
          <a:xfrm>
            <a:off x="4566818" y="2834640"/>
            <a:ext cx="3058058" cy="6858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Most students drift into general degrees; parents choose without knowing time-to-income or costs.</a:t>
            </a:r>
            <a:endParaRPr lang="en-US" sz="1150" dirty="0"/>
          </a:p>
        </p:txBody>
      </p:sp>
      <p:sp>
        <p:nvSpPr>
          <p:cNvPr id="25" name="Text 20"/>
          <p:cNvSpPr txBox="1"/>
          <p:nvPr/>
        </p:nvSpPr>
        <p:spPr>
          <a:xfrm>
            <a:off x="4566818" y="3520440"/>
            <a:ext cx="3058058" cy="594360"/>
          </a:xfrm>
          <a:prstGeom prst="rect">
            <a:avLst/>
          </a:prstGeom>
          <a:noFill/>
          <a:ln/>
        </p:spPr>
        <p:txBody>
          <a:bodyPr wrap="square" lIns="0" tIns="0" rIns="0" bIns="0" rtlCol="0" anchor="ctr"/>
          <a:lstStyle/>
          <a:p>
            <a:pPr indent="0" marL="0">
              <a:buNone/>
            </a:pPr>
            <a:r>
              <a:rPr lang="en-US" sz="3600" b="1" dirty="0">
                <a:solidFill>
                  <a:srgbClr val="1E3A8A"/>
                </a:solidFill>
                <a:latin typeface="Calibri" pitchFamily="34" charset="0"/>
                <a:ea typeface="Calibri" pitchFamily="34" charset="-122"/>
                <a:cs typeface="Calibri" pitchFamily="34" charset="-120"/>
              </a:rPr>
              <a:t>29.1%</a:t>
            </a:r>
            <a:endParaRPr lang="en-US" sz="3600" dirty="0"/>
          </a:p>
        </p:txBody>
      </p:sp>
      <p:sp>
        <p:nvSpPr>
          <p:cNvPr id="26" name="Text 21"/>
          <p:cNvSpPr txBox="1"/>
          <p:nvPr/>
        </p:nvSpPr>
        <p:spPr>
          <a:xfrm>
            <a:off x="4566818" y="4114800"/>
            <a:ext cx="3058058" cy="4572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of graduates are unemployed</a:t>
            </a:r>
            <a:endParaRPr lang="en-US" sz="1050" dirty="0"/>
          </a:p>
        </p:txBody>
      </p:sp>
      <p:sp>
        <p:nvSpPr>
          <p:cNvPr id="27" name="Text 22"/>
          <p:cNvSpPr txBox="1"/>
          <p:nvPr/>
        </p:nvSpPr>
        <p:spPr>
          <a:xfrm>
            <a:off x="4566818" y="4590288"/>
            <a:ext cx="3058058" cy="502920"/>
          </a:xfrm>
          <a:prstGeom prst="rect">
            <a:avLst/>
          </a:prstGeom>
          <a:noFill/>
          <a:ln/>
        </p:spPr>
        <p:txBody>
          <a:bodyPr wrap="square" lIns="0" tIns="0" rIns="0" bIns="0" rtlCol="0" anchor="t"/>
          <a:lstStyle/>
          <a:p>
            <a:pPr indent="0" marL="0">
              <a:buNone/>
            </a:pPr>
            <a:r>
              <a:rPr lang="en-US" sz="1100" b="1" dirty="0">
                <a:solidFill>
                  <a:srgbClr val="1E3A8A"/>
                </a:solidFill>
                <a:latin typeface="Calibri" pitchFamily="34" charset="0"/>
                <a:ea typeface="Calibri" pitchFamily="34" charset="-122"/>
                <a:cs typeface="Calibri" pitchFamily="34" charset="-120"/>
              </a:rPr>
              <a:t>55.7%</a:t>
            </a:r>
            <a:pPr indent="0" marL="0">
              <a:buNone/>
            </a:pPr>
            <a:r>
              <a:rPr lang="en-US" sz="1100" dirty="0">
                <a:solidFill>
                  <a:srgbClr val="1F2937"/>
                </a:solidFill>
                <a:latin typeface="Calibri" pitchFamily="34" charset="0"/>
                <a:ea typeface="Calibri" pitchFamily="34" charset="-122"/>
                <a:cs typeface="Calibri" pitchFamily="34" charset="-120"/>
              </a:rPr>
              <a:t> of rural Class 11+ students are in Arts/Humanities</a:t>
            </a:r>
            <a:endParaRPr lang="en-US" sz="1100" dirty="0"/>
          </a:p>
        </p:txBody>
      </p:sp>
      <p:sp>
        <p:nvSpPr>
          <p:cNvPr id="28" name="card"/>
          <p:cNvSpPr/>
          <p:nvPr/>
        </p:nvSpPr>
        <p:spPr>
          <a:xfrm>
            <a:off x="8127797" y="1920240"/>
            <a:ext cx="3515258" cy="3246120"/>
          </a:xfrm>
          <a:prstGeom prst="roundRect">
            <a:avLst>
              <a:gd name="adj" fmla="val 2254"/>
            </a:avLst>
          </a:prstGeom>
          <a:solidFill>
            <a:srgbClr val="F8FAFC"/>
          </a:solidFill>
          <a:ln w="9525">
            <a:solidFill>
              <a:srgbClr val="E2E8F0"/>
            </a:solidFill>
            <a:prstDash val="solid"/>
          </a:ln>
        </p:spPr>
      </p:sp>
      <p:sp>
        <p:nvSpPr>
          <p:cNvPr id="29" name="icon-circle"/>
          <p:cNvSpPr/>
          <p:nvPr/>
        </p:nvSpPr>
        <p:spPr>
          <a:xfrm>
            <a:off x="8356397" y="2148840"/>
            <a:ext cx="548640" cy="548640"/>
          </a:xfrm>
          <a:prstGeom prst="ellipse">
            <a:avLst/>
          </a:prstGeom>
          <a:solidFill>
            <a:srgbClr val="1E3A8A"/>
          </a:solidFill>
          <a:ln w="12700">
            <a:solidFill>
              <a:srgbClr val="1E3A8A"/>
            </a:solidFill>
            <a:prstDash val="solid"/>
          </a:ln>
        </p:spPr>
      </p:sp>
      <p:pic>
        <p:nvPicPr>
          <p:cNvPr id="30" name="icon" descr="preencoded.png">    </p:cNvPr>
          <p:cNvPicPr>
            <a:picLocks noChangeAspect="1"/>
          </p:cNvPicPr>
          <p:nvPr/>
        </p:nvPicPr>
        <p:blipFill>
          <a:blip r:embed="rId3"/>
          <a:stretch>
            <a:fillRect/>
          </a:stretch>
        </p:blipFill>
        <p:spPr>
          <a:xfrm>
            <a:off x="8488070" y="2280514"/>
            <a:ext cx="285293" cy="285293"/>
          </a:xfrm>
          <a:prstGeom prst="rect">
            <a:avLst/>
          </a:prstGeom>
        </p:spPr>
      </p:pic>
      <p:sp>
        <p:nvSpPr>
          <p:cNvPr id="31" name="Text 25"/>
          <p:cNvSpPr txBox="1"/>
          <p:nvPr/>
        </p:nvSpPr>
        <p:spPr>
          <a:xfrm>
            <a:off x="9042197" y="2148840"/>
            <a:ext cx="2417978" cy="56692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3 · Doors exist but stay half-empty</a:t>
            </a:r>
            <a:endParaRPr lang="en-US" sz="1400" dirty="0"/>
          </a:p>
        </p:txBody>
      </p:sp>
      <p:sp>
        <p:nvSpPr>
          <p:cNvPr id="32" name="Text 26"/>
          <p:cNvSpPr txBox="1"/>
          <p:nvPr/>
        </p:nvSpPr>
        <p:spPr>
          <a:xfrm>
            <a:off x="8356397" y="2834640"/>
            <a:ext cx="3058058" cy="685800"/>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Skill seats, apprenticeships and schemes exist, but students don't find, trust or reach them.</a:t>
            </a:r>
            <a:endParaRPr lang="en-US" sz="1150" dirty="0"/>
          </a:p>
        </p:txBody>
      </p:sp>
      <p:sp>
        <p:nvSpPr>
          <p:cNvPr id="33" name="Text 27"/>
          <p:cNvSpPr txBox="1"/>
          <p:nvPr/>
        </p:nvSpPr>
        <p:spPr>
          <a:xfrm>
            <a:off x="8356397" y="3520440"/>
            <a:ext cx="3058058" cy="594360"/>
          </a:xfrm>
          <a:prstGeom prst="rect">
            <a:avLst/>
          </a:prstGeom>
          <a:noFill/>
          <a:ln/>
        </p:spPr>
        <p:txBody>
          <a:bodyPr wrap="square" lIns="0" tIns="0" rIns="0" bIns="0" rtlCol="0" anchor="ctr"/>
          <a:lstStyle/>
          <a:p>
            <a:pPr indent="0" marL="0">
              <a:buNone/>
            </a:pPr>
            <a:r>
              <a:rPr lang="en-US" sz="3600" b="1" dirty="0">
                <a:solidFill>
                  <a:srgbClr val="1E3A8A"/>
                </a:solidFill>
                <a:latin typeface="Calibri" pitchFamily="34" charset="0"/>
                <a:ea typeface="Calibri" pitchFamily="34" charset="-122"/>
                <a:cs typeface="Calibri" pitchFamily="34" charset="-120"/>
              </a:rPr>
              <a:t>48%</a:t>
            </a:r>
            <a:endParaRPr lang="en-US" sz="3600" dirty="0"/>
          </a:p>
        </p:txBody>
      </p:sp>
      <p:sp>
        <p:nvSpPr>
          <p:cNvPr id="34" name="Text 28"/>
          <p:cNvSpPr txBox="1"/>
          <p:nvPr/>
        </p:nvSpPr>
        <p:spPr>
          <a:xfrm>
            <a:off x="8356397" y="4114800"/>
            <a:ext cx="3058058" cy="4572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of 25.4 lakh ITI seats are filled</a:t>
            </a:r>
            <a:endParaRPr lang="en-US" sz="1050" dirty="0"/>
          </a:p>
        </p:txBody>
      </p:sp>
      <p:sp>
        <p:nvSpPr>
          <p:cNvPr id="35" name="Text 29"/>
          <p:cNvSpPr txBox="1"/>
          <p:nvPr/>
        </p:nvSpPr>
        <p:spPr>
          <a:xfrm>
            <a:off x="8356397" y="4590288"/>
            <a:ext cx="3058058" cy="5029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Only </a:t>
            </a:r>
            <a:pPr indent="0" marL="0">
              <a:buNone/>
            </a:pPr>
            <a:r>
              <a:rPr lang="en-US" sz="1100" b="1" dirty="0">
                <a:solidFill>
                  <a:srgbClr val="1E3A8A"/>
                </a:solidFill>
                <a:latin typeface="Calibri" pitchFamily="34" charset="0"/>
                <a:ea typeface="Calibri" pitchFamily="34" charset="-122"/>
                <a:cs typeface="Calibri" pitchFamily="34" charset="-120"/>
              </a:rPr>
              <a:t>~1 in 4</a:t>
            </a:r>
            <a:pPr indent="0" marL="0">
              <a:buNone/>
            </a:pPr>
            <a:r>
              <a:rPr lang="en-US" sz="1100" dirty="0">
                <a:solidFill>
                  <a:srgbClr val="1F2937"/>
                </a:solidFill>
                <a:latin typeface="Calibri" pitchFamily="34" charset="0"/>
                <a:ea typeface="Calibri" pitchFamily="34" charset="-122"/>
                <a:cs typeface="Calibri" pitchFamily="34" charset="-120"/>
              </a:rPr>
              <a:t> rural youth has used a phone for an online service like filling a form</a:t>
            </a:r>
            <a:endParaRPr lang="en-US" sz="1100" dirty="0"/>
          </a:p>
        </p:txBody>
      </p:sp>
      <p:sp>
        <p:nvSpPr>
          <p:cNvPr id="36" name="voice-strip"/>
          <p:cNvSpPr/>
          <p:nvPr/>
        </p:nvSpPr>
        <p:spPr>
          <a:xfrm>
            <a:off x="548640" y="5321808"/>
            <a:ext cx="11094415" cy="749808"/>
          </a:xfrm>
          <a:prstGeom prst="roundRect">
            <a:avLst>
              <a:gd name="adj" fmla="val 9756"/>
            </a:avLst>
          </a:prstGeom>
          <a:solidFill>
            <a:srgbClr val="1E3A8A"/>
          </a:solidFill>
          <a:ln w="12700">
            <a:solidFill>
              <a:srgbClr val="1E3A8A"/>
            </a:solidFill>
            <a:prstDash val="solid"/>
          </a:ln>
        </p:spPr>
      </p:sp>
      <p:sp>
        <p:nvSpPr>
          <p:cNvPr id="37" name="icon-circle"/>
          <p:cNvSpPr/>
          <p:nvPr/>
        </p:nvSpPr>
        <p:spPr>
          <a:xfrm>
            <a:off x="731520" y="5422392"/>
            <a:ext cx="548640" cy="548640"/>
          </a:xfrm>
          <a:prstGeom prst="ellipse">
            <a:avLst/>
          </a:prstGeom>
          <a:solidFill>
            <a:srgbClr val="0D9488"/>
          </a:solidFill>
          <a:ln w="12700">
            <a:solidFill>
              <a:srgbClr val="0D9488"/>
            </a:solidFill>
            <a:prstDash val="solid"/>
          </a:ln>
        </p:spPr>
      </p:sp>
      <p:pic>
        <p:nvPicPr>
          <p:cNvPr id="38" name="icon" descr="preencoded.png">    </p:cNvPr>
          <p:cNvPicPr>
            <a:picLocks noChangeAspect="1"/>
          </p:cNvPicPr>
          <p:nvPr/>
        </p:nvPicPr>
        <p:blipFill>
          <a:blip r:embed="rId4"/>
          <a:stretch>
            <a:fillRect/>
          </a:stretch>
        </p:blipFill>
        <p:spPr>
          <a:xfrm>
            <a:off x="863194" y="5554066"/>
            <a:ext cx="285293" cy="285293"/>
          </a:xfrm>
          <a:prstGeom prst="rect">
            <a:avLst/>
          </a:prstGeom>
        </p:spPr>
      </p:pic>
      <p:sp>
        <p:nvSpPr>
          <p:cNvPr id="39" name="Text 32"/>
          <p:cNvSpPr txBox="1"/>
          <p:nvPr/>
        </p:nvSpPr>
        <p:spPr>
          <a:xfrm>
            <a:off x="1463040" y="5321808"/>
            <a:ext cx="9997135"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must be voice-first:  </a:t>
            </a:r>
            <a:pPr indent="0" marL="0">
              <a:buNone/>
            </a:pPr>
            <a:r>
              <a:rPr lang="en-US" sz="1400" dirty="0">
                <a:solidFill>
                  <a:srgbClr val="FFFFFF"/>
                </a:solidFill>
                <a:latin typeface="Calibri" pitchFamily="34" charset="0"/>
                <a:ea typeface="Calibri" pitchFamily="34" charset="-122"/>
                <a:cs typeface="Calibri" pitchFamily="34" charset="-120"/>
              </a:rPr>
              <a:t>~1 in 4 rural 14–18-year-olds can’t fluently read a Class 2 text in their own language · yet </a:t>
            </a:r>
            <a:pPr indent="0" marL="0">
              <a:buNone/>
            </a:pPr>
            <a:r>
              <a:rPr lang="en-US" sz="1400" b="1" dirty="0">
                <a:solidFill>
                  <a:srgbClr val="FFFFFF"/>
                </a:solidFill>
                <a:latin typeface="Calibri" pitchFamily="34" charset="0"/>
                <a:ea typeface="Calibri" pitchFamily="34" charset="-122"/>
                <a:cs typeface="Calibri" pitchFamily="34" charset="-120"/>
              </a:rPr>
              <a:t>~90%</a:t>
            </a:r>
            <a:pPr indent="0" marL="0">
              <a:buNone/>
            </a:pPr>
            <a:r>
              <a:rPr lang="en-US" sz="1400" dirty="0">
                <a:solidFill>
                  <a:srgbClr val="FFFFFF"/>
                </a:solidFill>
                <a:latin typeface="Calibri" pitchFamily="34" charset="0"/>
                <a:ea typeface="Calibri" pitchFamily="34" charset="-122"/>
                <a:cs typeface="Calibri" pitchFamily="34" charset="-120"/>
              </a:rPr>
              <a:t> have a smartphone at home</a:t>
            </a:r>
            <a:endParaRPr lang="en-US" sz="1400" dirty="0"/>
          </a:p>
        </p:txBody>
      </p:sp>
      <p:sp>
        <p:nvSpPr>
          <p:cNvPr id="40" name="Text 33"/>
          <p:cNvSpPr txBox="1"/>
          <p:nvPr/>
        </p:nvSpPr>
        <p:spPr>
          <a:xfrm>
            <a:off x="548640" y="6199632"/>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ASER 2023 “Beyond Basics” (34,745 rural youth, 28 districts); India Employment Report 2024 (ILO &amp; IHD); NITI Aayog, Transforming ITIs (2023).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FCE4D6"/>
          </a:solidFill>
          <a:ln w="12700">
            <a:solidFill>
              <a:srgbClr val="FCE4D6"/>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Existing Alternatives</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What are the existing alternatives to the problems outlined?</a:t>
            </a:r>
            <a:endParaRPr lang="en-US" sz="1200" dirty="0"/>
          </a:p>
        </p:txBody>
      </p:sp>
      <p:sp>
        <p:nvSpPr>
          <p:cNvPr id="8" name="Text 6"/>
          <p:cNvSpPr txBox="1"/>
          <p:nvPr/>
        </p:nvSpPr>
        <p:spPr>
          <a:xfrm>
            <a:off x="548640" y="1207008"/>
            <a:ext cx="11094415" cy="621792"/>
          </a:xfrm>
          <a:prstGeom prst="rect">
            <a:avLst/>
          </a:prstGeom>
          <a:noFill/>
          <a:ln/>
        </p:spPr>
        <p:txBody>
          <a:bodyPr wrap="square" lIns="0" tIns="0" rIns="0" bIns="0" rtlCol="0" anchor="t"/>
          <a:lstStyle/>
          <a:p>
            <a:pPr indent="0" marL="0">
              <a:buNone/>
            </a:pPr>
            <a:r>
              <a:rPr lang="en-US" sz="1800" b="1" dirty="0">
                <a:solidFill>
                  <a:srgbClr val="1E3A8A"/>
                </a:solidFill>
                <a:latin typeface="Calibri" pitchFamily="34" charset="0"/>
                <a:ea typeface="Calibri" pitchFamily="34" charset="-122"/>
                <a:cs typeface="Calibri" pitchFamily="34" charset="-120"/>
              </a:rPr>
              <a:t>Today's options either guess, test in English, or list schemes on portals, and none of them listens, shows the money, or reaches the family.</a:t>
            </a:r>
            <a:endParaRPr lang="en-US" sz="1800" dirty="0"/>
          </a:p>
        </p:txBody>
      </p:sp>
      <p:sp>
        <p:nvSpPr>
          <p:cNvPr id="9" name="Text 7"/>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10" name="Text 8"/>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2/9</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4415" cy="914400"/>
        </p:xfrm>
        <a:graphic>
          <a:graphicData uri="http://schemas.openxmlformats.org/drawingml/2006/table">
            <a:tbl>
              <a:tblPr/>
              <a:tblGrid>
                <a:gridCol w="3291840"/>
                <a:gridCol w="2377440"/>
                <a:gridCol w="5422392"/>
              </a:tblGrid>
              <a:tr h="28346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Existing alternative</a:t>
                      </a:r>
                      <a:endParaRPr lang="en-US" sz="11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Gap (with data)</a:t>
                      </a:r>
                      <a:endParaRPr lang="en-US" sz="11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r>
              <a:tr h="283464">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 Relatives &amp; neighbours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Advice from experience</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Limited to familiar jobs; no earnings data</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 School teachers / ITI instructors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Informal guidance</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Overstretched: only 36% of sanctioned ITI instructor posts are filled</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 Aptitude / psychometric test apps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Quiz → career list</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English-first, but only 57% of rural youth can read English sentences; misses real practical skills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 Govt portals (NSP, Skill India Digital, NAPS, DIKSHA, SWAYAM)</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Schemes, courses, apprenticeships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Separate, form-heavy; only ~1 in 4 rural youth has used a phone for an online service</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83464">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 Free government courses (e.g. Suryamitra solar)</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Free residential training + placement help</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Small reach: 60,685 trained to date; strict entry (ITI/diploma, 18+); low awareness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283464">
                <a:tc>
                  <a:txBody>
                    <a:bodyPr/>
                    <a:lstStyle/>
                    <a:p>
                      <a:pPr indent="0" marL="0">
                        <a:buNone/>
                      </a:pPr>
                      <a:r>
                        <a:rPr lang="en-US" sz="1000" b="1" dirty="0">
                          <a:solidFill>
                            <a:srgbClr val="1F2937"/>
                          </a:solidFill>
                          <a:latin typeface="Calibri" pitchFamily="34" charset="0"/>
                          <a:ea typeface="Calibri" pitchFamily="34" charset="-122"/>
                          <a:cs typeface="Calibri" pitchFamily="34" charset="-120"/>
                        </a:rPr>
                        <a:t>🤖 Generic AI chatbots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Answer questions</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Not grounded; can invent schemes, salaries and eligibility</a:t>
                      </a:r>
                      <a:endParaRPr lang="en-US" sz="10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548640" y="4206240"/>
          <a:ext cx="11094415" cy="914400"/>
        </p:xfrm>
        <a:graphic>
          <a:graphicData uri="http://schemas.openxmlformats.org/drawingml/2006/table">
            <a:tbl>
              <a:tblPr/>
              <a:tblGrid>
                <a:gridCol w="3776472"/>
                <a:gridCol w="1463040"/>
                <a:gridCol w="1463040"/>
                <a:gridCol w="1463040"/>
                <a:gridCol w="1463040"/>
                <a:gridCol w="1463040"/>
              </a:tblGrid>
              <a:tr h="24688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Capability</a:t>
                      </a:r>
                      <a:endParaRPr lang="en-US" sz="11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Relatives</a:t>
                      </a:r>
                      <a:endParaRPr lang="en-US" sz="11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Test apps</a:t>
                      </a:r>
                      <a:endParaRPr lang="en-US" sz="11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Govt portals</a:t>
                      </a:r>
                      <a:endParaRPr lang="en-US" sz="11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Generic AI</a:t>
                      </a:r>
                      <a:endParaRPr lang="en-US" sz="11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algn="ctr" indent="0" marL="0">
                        <a:buNone/>
                      </a:pPr>
                      <a:r>
                        <a:rPr lang="en-US" sz="1100" b="1" dirty="0">
                          <a:solidFill>
                            <a:srgbClr val="1E3A8A"/>
                          </a:solidFill>
                          <a:latin typeface="Calibri" pitchFamily="34" charset="0"/>
                          <a:ea typeface="Calibri" pitchFamily="34" charset="-122"/>
                          <a:cs typeface="Calibri" pitchFamily="34" charset="-120"/>
                        </a:rPr>
                        <a:t>Yukti</a:t>
                      </a:r>
                      <a:endParaRPr lang="en-US" sz="11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Voice, in local language</a:t>
                      </a:r>
                      <a:endParaRPr lang="en-US" sz="10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Finds hidden practical skills</a:t>
                      </a:r>
                      <a:endParaRPr lang="en-US" sz="10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Shows months to first income &amp; cost</a:t>
                      </a:r>
                      <a:endParaRPr lang="en-US" sz="10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Talks to parents</a:t>
                      </a:r>
                      <a:endParaRPr lang="en-US" sz="10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Eligibility check with reasons</a:t>
                      </a:r>
                      <a:endParaRPr lang="en-US" sz="10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64748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246888">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Teacher / facilitator mode</a:t>
                      </a:r>
                      <a:endParaRPr lang="en-US" sz="10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6A34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bl>
          </a:graphicData>
        </a:graphic>
      </p:graphicFrame>
      <p:sp>
        <p:nvSpPr>
          <p:cNvPr id="14" name="Text 9"/>
          <p:cNvSpPr txBox="1"/>
          <p:nvPr/>
        </p:nvSpPr>
        <p:spPr>
          <a:xfrm>
            <a:off x="548640" y="6199632"/>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ASER 2023; NITI Aayog, Transforming ITIs (2023), via Careers360; NISE Suryamitra programme data.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FFF2CC"/>
          </a:solidFill>
          <a:ln w="12700">
            <a:solidFill>
              <a:srgbClr val="FFF2CC"/>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Solution</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Outline the top features or minimum viable product (MVP) concept for each problem.</a:t>
            </a:r>
            <a:endParaRPr lang="en-US" sz="1200" dirty="0"/>
          </a:p>
        </p:txBody>
      </p:sp>
      <p:sp>
        <p:nvSpPr>
          <p:cNvPr id="8" name="Text 6"/>
          <p:cNvSpPr txBox="1"/>
          <p:nvPr/>
        </p:nvSpPr>
        <p:spPr>
          <a:xfrm>
            <a:off x="548640" y="1207008"/>
            <a:ext cx="11094415" cy="621792"/>
          </a:xfrm>
          <a:prstGeom prst="rect">
            <a:avLst/>
          </a:prstGeom>
          <a:noFill/>
          <a:ln/>
        </p:spPr>
        <p:txBody>
          <a:bodyPr wrap="square" lIns="0" tIns="0" rIns="0" bIns="0" rtlCol="0" anchor="t"/>
          <a:lstStyle/>
          <a:p>
            <a:pPr indent="0" marL="0">
              <a:buNone/>
            </a:pPr>
            <a:r>
              <a:rPr lang="en-US" sz="1800" b="1" dirty="0">
                <a:solidFill>
                  <a:srgbClr val="1E3A8A"/>
                </a:solidFill>
                <a:latin typeface="Calibri" pitchFamily="34" charset="0"/>
                <a:ea typeface="Calibri" pitchFamily="34" charset="-122"/>
                <a:cs typeface="Calibri" pitchFamily="34" charset="-120"/>
              </a:rPr>
              <a:t>Yukti: speak your day → see your skills, your path and your first income → bring your family along → apply.</a:t>
            </a:r>
            <a:endParaRPr lang="en-US" sz="1800" dirty="0"/>
          </a:p>
        </p:txBody>
      </p:sp>
      <p:sp>
        <p:nvSpPr>
          <p:cNvPr id="9" name="Text 7"/>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10" name="Text 8"/>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3/9</a:t>
            </a:r>
            <a:endParaRPr lang="en-US" sz="1000" dirty="0"/>
          </a:p>
        </p:txBody>
      </p:sp>
      <p:sp>
        <p:nvSpPr>
          <p:cNvPr id="12" name="card"/>
          <p:cNvSpPr/>
          <p:nvPr/>
        </p:nvSpPr>
        <p:spPr>
          <a:xfrm>
            <a:off x="548640" y="1874520"/>
            <a:ext cx="3515258" cy="1554480"/>
          </a:xfrm>
          <a:prstGeom prst="roundRect">
            <a:avLst>
              <a:gd name="adj" fmla="val 4706"/>
            </a:avLst>
          </a:prstGeom>
          <a:solidFill>
            <a:srgbClr val="F8FAFC"/>
          </a:solidFill>
          <a:ln w="9525">
            <a:solidFill>
              <a:srgbClr val="E2E8F0"/>
            </a:solidFill>
            <a:prstDash val="solid"/>
          </a:ln>
        </p:spPr>
      </p:sp>
      <p:sp>
        <p:nvSpPr>
          <p:cNvPr id="13" name="icon-circle"/>
          <p:cNvSpPr/>
          <p:nvPr/>
        </p:nvSpPr>
        <p:spPr>
          <a:xfrm>
            <a:off x="685800" y="1984248"/>
            <a:ext cx="384048" cy="384048"/>
          </a:xfrm>
          <a:prstGeom prst="ellipse">
            <a:avLst/>
          </a:prstGeom>
          <a:solidFill>
            <a:srgbClr val="1E3A8A"/>
          </a:solidFill>
          <a:ln w="12700">
            <a:solidFill>
              <a:srgbClr val="1E3A8A"/>
            </a:solidFill>
            <a:prstDash val="solid"/>
          </a:ln>
        </p:spPr>
      </p:sp>
      <p:pic>
        <p:nvPicPr>
          <p:cNvPr id="14" name="icon" descr="preencoded.png">    </p:cNvPr>
          <p:cNvPicPr>
            <a:picLocks noChangeAspect="1"/>
          </p:cNvPicPr>
          <p:nvPr/>
        </p:nvPicPr>
        <p:blipFill>
          <a:blip r:embed="rId1"/>
          <a:stretch>
            <a:fillRect/>
          </a:stretch>
        </p:blipFill>
        <p:spPr>
          <a:xfrm>
            <a:off x="777972" y="2076420"/>
            <a:ext cx="199705" cy="199705"/>
          </a:xfrm>
          <a:prstGeom prst="rect">
            <a:avLst/>
          </a:prstGeom>
        </p:spPr>
      </p:pic>
      <p:sp>
        <p:nvSpPr>
          <p:cNvPr id="15" name="Text 11"/>
          <p:cNvSpPr txBox="1"/>
          <p:nvPr/>
        </p:nvSpPr>
        <p:spPr>
          <a:xfrm>
            <a:off x="1143000" y="1984248"/>
            <a:ext cx="2783738"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1 · Real skills, never counted</a:t>
            </a:r>
            <a:endParaRPr lang="en-US" sz="1200" dirty="0"/>
          </a:p>
        </p:txBody>
      </p:sp>
      <p:sp>
        <p:nvSpPr>
          <p:cNvPr id="16" name="Text 12"/>
          <p:cNvSpPr txBox="1"/>
          <p:nvPr/>
        </p:nvSpPr>
        <p:spPr>
          <a:xfrm>
            <a:off x="685800" y="2423160"/>
            <a:ext cx="3240938" cy="960120"/>
          </a:xfrm>
          <a:prstGeom prst="rect">
            <a:avLst/>
          </a:prstGeom>
          <a:noFill/>
          <a:ln/>
        </p:spPr>
        <p:txBody>
          <a:bodyPr wrap="square" lIns="0" tIns="0" rIns="0" bIns="0" rtlCol="0" anchor="t"/>
          <a:lstStyle/>
          <a:p>
            <a:pPr indent="0" marL="0">
              <a:buNone/>
            </a:pPr>
            <a:r>
              <a:rPr lang="en-US" sz="1100" b="1" dirty="0">
                <a:solidFill>
                  <a:srgbClr val="1F2937"/>
                </a:solidFill>
                <a:latin typeface="Calibri" pitchFamily="34" charset="0"/>
                <a:ea typeface="Calibri" pitchFamily="34" charset="-122"/>
                <a:cs typeface="Calibri" pitchFamily="34" charset="-120"/>
              </a:rPr>
              <a:t>🎤 Kaam Kahani</a:t>
            </a:r>
            <a:pPr indent="0" marL="0">
              <a:buNone/>
            </a:pPr>
            <a:r>
              <a:rPr lang="en-US" sz="1100" dirty="0">
                <a:solidFill>
                  <a:srgbClr val="1F2937"/>
                </a:solidFill>
                <a:latin typeface="Calibri" pitchFamily="34" charset="0"/>
                <a:ea typeface="Calibri" pitchFamily="34" charset="-122"/>
                <a:cs typeface="Calibri" pitchFamily="34" charset="-120"/>
              </a:rPr>
              <a:t>: speak your day, AI finds the skills you already have · </a:t>
            </a:r>
            <a:pPr indent="0" marL="0">
              <a:buNone/>
            </a:pPr>
            <a:r>
              <a:rPr lang="en-US" sz="1100" b="1" dirty="0">
                <a:solidFill>
                  <a:srgbClr val="1F2937"/>
                </a:solidFill>
                <a:latin typeface="Calibri" pitchFamily="34" charset="0"/>
                <a:ea typeface="Calibri" pitchFamily="34" charset="-122"/>
                <a:cs typeface="Calibri" pitchFamily="34" charset="-120"/>
              </a:rPr>
              <a:t>🪪 Skill Passport</a:t>
            </a:r>
            <a:pPr indent="0" marL="0">
              <a:buNone/>
            </a:pPr>
            <a:r>
              <a:rPr lang="en-US" sz="1100" dirty="0">
                <a:solidFill>
                  <a:srgbClr val="1F2937"/>
                </a:solidFill>
                <a:latin typeface="Calibri" pitchFamily="34" charset="0"/>
                <a:ea typeface="Calibri" pitchFamily="34" charset="-122"/>
                <a:cs typeface="Calibri" pitchFamily="34" charset="-120"/>
              </a:rPr>
              <a:t>: each skill backed by your own words · </a:t>
            </a:r>
            <a:pPr indent="0" marL="0">
              <a:buNone/>
            </a:pPr>
            <a:r>
              <a:rPr lang="en-US" sz="1100" b="1" dirty="0">
                <a:solidFill>
                  <a:srgbClr val="1F2937"/>
                </a:solidFill>
                <a:latin typeface="Calibri" pitchFamily="34" charset="0"/>
                <a:ea typeface="Calibri" pitchFamily="34" charset="-122"/>
                <a:cs typeface="Calibri" pitchFamily="34" charset="-120"/>
              </a:rPr>
              <a:t>🪜 Career Ladders</a:t>
            </a:r>
            <a:pPr indent="0" marL="0">
              <a:buNone/>
            </a:pPr>
            <a:r>
              <a:rPr lang="en-US" sz="1100" dirty="0">
                <a:solidFill>
                  <a:srgbClr val="1F2937"/>
                </a:solidFill>
                <a:latin typeface="Calibri" pitchFamily="34" charset="0"/>
                <a:ea typeface="Calibri" pitchFamily="34" charset="-122"/>
                <a:cs typeface="Calibri" pitchFamily="34" charset="-120"/>
              </a:rPr>
              <a:t>: always a vocational, a non-STEM and a 🎲 surprise career</a:t>
            </a:r>
            <a:endParaRPr lang="en-US" sz="1100" dirty="0"/>
          </a:p>
        </p:txBody>
      </p:sp>
      <p:sp>
        <p:nvSpPr>
          <p:cNvPr id="17" name="card"/>
          <p:cNvSpPr/>
          <p:nvPr/>
        </p:nvSpPr>
        <p:spPr>
          <a:xfrm>
            <a:off x="4338218" y="1874520"/>
            <a:ext cx="3515258" cy="1554480"/>
          </a:xfrm>
          <a:prstGeom prst="roundRect">
            <a:avLst>
              <a:gd name="adj" fmla="val 4706"/>
            </a:avLst>
          </a:prstGeom>
          <a:solidFill>
            <a:srgbClr val="F8FAFC"/>
          </a:solidFill>
          <a:ln w="9525">
            <a:solidFill>
              <a:srgbClr val="E2E8F0"/>
            </a:solidFill>
            <a:prstDash val="solid"/>
          </a:ln>
        </p:spPr>
      </p:sp>
      <p:sp>
        <p:nvSpPr>
          <p:cNvPr id="18" name="icon-circle"/>
          <p:cNvSpPr/>
          <p:nvPr/>
        </p:nvSpPr>
        <p:spPr>
          <a:xfrm>
            <a:off x="4475378" y="1984248"/>
            <a:ext cx="384048" cy="384048"/>
          </a:xfrm>
          <a:prstGeom prst="ellipse">
            <a:avLst/>
          </a:prstGeom>
          <a:solidFill>
            <a:srgbClr val="1E3A8A"/>
          </a:solidFill>
          <a:ln w="12700">
            <a:solidFill>
              <a:srgbClr val="1E3A8A"/>
            </a:solidFill>
            <a:prstDash val="solid"/>
          </a:ln>
        </p:spPr>
      </p:sp>
      <p:pic>
        <p:nvPicPr>
          <p:cNvPr id="19" name="icon" descr="preencoded.png">    </p:cNvPr>
          <p:cNvPicPr>
            <a:picLocks noChangeAspect="1"/>
          </p:cNvPicPr>
          <p:nvPr/>
        </p:nvPicPr>
        <p:blipFill>
          <a:blip r:embed="rId2"/>
          <a:stretch>
            <a:fillRect/>
          </a:stretch>
        </p:blipFill>
        <p:spPr>
          <a:xfrm>
            <a:off x="4567550" y="2076420"/>
            <a:ext cx="199705" cy="199705"/>
          </a:xfrm>
          <a:prstGeom prst="rect">
            <a:avLst/>
          </a:prstGeom>
        </p:spPr>
      </p:pic>
      <p:sp>
        <p:nvSpPr>
          <p:cNvPr id="20" name="Text 15"/>
          <p:cNvSpPr txBox="1"/>
          <p:nvPr/>
        </p:nvSpPr>
        <p:spPr>
          <a:xfrm>
            <a:off x="4932578" y="1984248"/>
            <a:ext cx="2783738"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2 · Degree ≠ job, families decide blind</a:t>
            </a:r>
            <a:endParaRPr lang="en-US" sz="1200" dirty="0"/>
          </a:p>
        </p:txBody>
      </p:sp>
      <p:sp>
        <p:nvSpPr>
          <p:cNvPr id="21" name="Text 16"/>
          <p:cNvSpPr txBox="1"/>
          <p:nvPr/>
        </p:nvSpPr>
        <p:spPr>
          <a:xfrm>
            <a:off x="4475378" y="2423160"/>
            <a:ext cx="3240938" cy="960120"/>
          </a:xfrm>
          <a:prstGeom prst="rect">
            <a:avLst/>
          </a:prstGeom>
          <a:noFill/>
          <a:ln/>
        </p:spPr>
        <p:txBody>
          <a:bodyPr wrap="square" lIns="0" tIns="0" rIns="0" bIns="0" rtlCol="0" anchor="t"/>
          <a:lstStyle/>
          <a:p>
            <a:pPr indent="0" marL="0">
              <a:buNone/>
            </a:pPr>
            <a:r>
              <a:rPr lang="en-US" sz="1100" b="1" dirty="0">
                <a:solidFill>
                  <a:srgbClr val="1F2937"/>
                </a:solidFill>
                <a:latin typeface="Calibri" pitchFamily="34" charset="0"/>
                <a:ea typeface="Calibri" pitchFamily="34" charset="-122"/>
                <a:cs typeface="Calibri" pitchFamily="34" charset="-120"/>
              </a:rPr>
              <a:t>💰 Kamai Calculator</a:t>
            </a:r>
            <a:pPr indent="0" marL="0">
              <a:buNone/>
            </a:pPr>
            <a:r>
              <a:rPr lang="en-US" sz="1100" dirty="0">
                <a:solidFill>
                  <a:srgbClr val="1F2937"/>
                </a:solidFill>
                <a:latin typeface="Calibri" pitchFamily="34" charset="0"/>
                <a:ea typeface="Calibri" pitchFamily="34" charset="-122"/>
                <a:cs typeface="Calibri" pitchFamily="34" charset="-120"/>
              </a:rPr>
              <a:t>: months to first income, stipend, cost vs a regular degree, using official rates · </a:t>
            </a:r>
            <a:pPr indent="0" marL="0">
              <a:buNone/>
            </a:pPr>
            <a:r>
              <a:rPr lang="en-US" sz="1100" b="1" dirty="0">
                <a:solidFill>
                  <a:srgbClr val="1F2937"/>
                </a:solidFill>
                <a:latin typeface="Calibri" pitchFamily="34" charset="0"/>
                <a:ea typeface="Calibri" pitchFamily="34" charset="-122"/>
                <a:cs typeface="Calibri" pitchFamily="34" charset="-120"/>
              </a:rPr>
              <a:t>📣 Parent Pitch</a:t>
            </a:r>
            <a:pPr indent="0" marL="0">
              <a:buNone/>
            </a:pPr>
            <a:r>
              <a:rPr lang="en-US" sz="1100" dirty="0">
                <a:solidFill>
                  <a:srgbClr val="1F2937"/>
                </a:solidFill>
                <a:latin typeface="Calibri" pitchFamily="34" charset="0"/>
                <a:ea typeface="Calibri" pitchFamily="34" charset="-122"/>
                <a:cs typeface="Calibri" pitchFamily="34" charset="-120"/>
              </a:rPr>
              <a:t>: a voice message to parents in their language, on WhatsApp</a:t>
            </a:r>
            <a:endParaRPr lang="en-US" sz="1100" dirty="0"/>
          </a:p>
        </p:txBody>
      </p:sp>
      <p:sp>
        <p:nvSpPr>
          <p:cNvPr id="22" name="card"/>
          <p:cNvSpPr/>
          <p:nvPr/>
        </p:nvSpPr>
        <p:spPr>
          <a:xfrm>
            <a:off x="8127797" y="1874520"/>
            <a:ext cx="3515258" cy="1554480"/>
          </a:xfrm>
          <a:prstGeom prst="roundRect">
            <a:avLst>
              <a:gd name="adj" fmla="val 4706"/>
            </a:avLst>
          </a:prstGeom>
          <a:solidFill>
            <a:srgbClr val="F8FAFC"/>
          </a:solidFill>
          <a:ln w="9525">
            <a:solidFill>
              <a:srgbClr val="E2E8F0"/>
            </a:solidFill>
            <a:prstDash val="solid"/>
          </a:ln>
        </p:spPr>
      </p:sp>
      <p:sp>
        <p:nvSpPr>
          <p:cNvPr id="23" name="icon-circle"/>
          <p:cNvSpPr/>
          <p:nvPr/>
        </p:nvSpPr>
        <p:spPr>
          <a:xfrm>
            <a:off x="8264957" y="1984248"/>
            <a:ext cx="384048" cy="384048"/>
          </a:xfrm>
          <a:prstGeom prst="ellipse">
            <a:avLst/>
          </a:prstGeom>
          <a:solidFill>
            <a:srgbClr val="1E3A8A"/>
          </a:solidFill>
          <a:ln w="12700">
            <a:solidFill>
              <a:srgbClr val="1E3A8A"/>
            </a:solidFill>
            <a:prstDash val="solid"/>
          </a:ln>
        </p:spPr>
      </p:sp>
      <p:pic>
        <p:nvPicPr>
          <p:cNvPr id="24" name="icon" descr="preencoded.png">    </p:cNvPr>
          <p:cNvPicPr>
            <a:picLocks noChangeAspect="1"/>
          </p:cNvPicPr>
          <p:nvPr/>
        </p:nvPicPr>
        <p:blipFill>
          <a:blip r:embed="rId3"/>
          <a:stretch>
            <a:fillRect/>
          </a:stretch>
        </p:blipFill>
        <p:spPr>
          <a:xfrm>
            <a:off x="8357128" y="2076420"/>
            <a:ext cx="199705" cy="199705"/>
          </a:xfrm>
          <a:prstGeom prst="rect">
            <a:avLst/>
          </a:prstGeom>
        </p:spPr>
      </p:pic>
      <p:sp>
        <p:nvSpPr>
          <p:cNvPr id="25" name="Text 19"/>
          <p:cNvSpPr txBox="1"/>
          <p:nvPr/>
        </p:nvSpPr>
        <p:spPr>
          <a:xfrm>
            <a:off x="8722157" y="1984248"/>
            <a:ext cx="2783738"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3 · Doors half-empty</a:t>
            </a:r>
            <a:endParaRPr lang="en-US" sz="1200" dirty="0"/>
          </a:p>
        </p:txBody>
      </p:sp>
      <p:sp>
        <p:nvSpPr>
          <p:cNvPr id="26" name="Text 20"/>
          <p:cNvSpPr txBox="1"/>
          <p:nvPr/>
        </p:nvSpPr>
        <p:spPr>
          <a:xfrm>
            <a:off x="8264957" y="2423160"/>
            <a:ext cx="3240938" cy="960120"/>
          </a:xfrm>
          <a:prstGeom prst="rect">
            <a:avLst/>
          </a:prstGeom>
          <a:noFill/>
          <a:ln/>
        </p:spPr>
        <p:txBody>
          <a:bodyPr wrap="square" lIns="0" tIns="0" rIns="0" bIns="0" rtlCol="0" anchor="t"/>
          <a:lstStyle/>
          <a:p>
            <a:pPr indent="0" marL="0">
              <a:buNone/>
            </a:pPr>
            <a:r>
              <a:rPr lang="en-US" sz="1100" b="1" dirty="0">
                <a:solidFill>
                  <a:srgbClr val="1F2937"/>
                </a:solidFill>
                <a:latin typeface="Calibri" pitchFamily="34" charset="0"/>
                <a:ea typeface="Calibri" pitchFamily="34" charset="-122"/>
                <a:cs typeface="Calibri" pitchFamily="34" charset="-120"/>
              </a:rPr>
              <a:t>📬 Opportunity Inbox</a:t>
            </a:r>
            <a:pPr indent="0" marL="0">
              <a:buNone/>
            </a:pPr>
            <a:r>
              <a:rPr lang="en-US" sz="1100" dirty="0">
                <a:solidFill>
                  <a:srgbClr val="1F2937"/>
                </a:solidFill>
                <a:latin typeface="Calibri" pitchFamily="34" charset="0"/>
                <a:ea typeface="Calibri" pitchFamily="34" charset="-122"/>
                <a:cs typeface="Calibri" pitchFamily="34" charset="-120"/>
              </a:rPr>
              <a:t>: ITI seats, apprenticeships, schemes, scholarships + rule-based eligibility · </a:t>
            </a:r>
            <a:pPr indent="0" marL="0">
              <a:buNone/>
            </a:pPr>
            <a:r>
              <a:rPr lang="en-US" sz="1100" b="1" dirty="0">
                <a:solidFill>
                  <a:srgbClr val="1F2937"/>
                </a:solidFill>
                <a:latin typeface="Calibri" pitchFamily="34" charset="0"/>
                <a:ea typeface="Calibri" pitchFamily="34" charset="-122"/>
                <a:cs typeface="Calibri" pitchFamily="34" charset="-120"/>
              </a:rPr>
              <a:t>🧑‍🏫 Teacher Talent Radar</a:t>
            </a:r>
            <a:pPr indent="0" marL="0">
              <a:buNone/>
            </a:pPr>
            <a:r>
              <a:rPr lang="en-US" sz="1100" dirty="0">
                <a:solidFill>
                  <a:srgbClr val="1F2937"/>
                </a:solidFill>
                <a:latin typeface="Calibri" pitchFamily="34" charset="0"/>
                <a:ea typeface="Calibri" pitchFamily="34" charset="-122"/>
                <a:cs typeface="Calibri" pitchFamily="34" charset="-120"/>
              </a:rPr>
              <a:t>: one phone, many students · </a:t>
            </a:r>
            <a:pPr indent="0" marL="0">
              <a:buNone/>
            </a:pPr>
            <a:r>
              <a:rPr lang="en-US" sz="1100" b="1" dirty="0">
                <a:solidFill>
                  <a:srgbClr val="1F2937"/>
                </a:solidFill>
                <a:latin typeface="Calibri" pitchFamily="34" charset="0"/>
                <a:ea typeface="Calibri" pitchFamily="34" charset="-122"/>
                <a:cs typeface="Calibri" pitchFamily="34" charset="-120"/>
              </a:rPr>
              <a:t>🏅 Skill Badges</a:t>
            </a:r>
            <a:pPr indent="0" marL="0">
              <a:buNone/>
            </a:pPr>
            <a:r>
              <a:rPr lang="en-US" sz="1100" dirty="0">
                <a:solidFill>
                  <a:srgbClr val="1F2937"/>
                </a:solidFill>
                <a:latin typeface="Calibri" pitchFamily="34" charset="0"/>
                <a:ea typeface="Calibri" pitchFamily="34" charset="-122"/>
                <a:cs typeface="Calibri" pitchFamily="34" charset="-120"/>
              </a:rPr>
              <a:t>: verified proof of skill</a:t>
            </a:r>
            <a:endParaRPr lang="en-US" sz="1100" dirty="0"/>
          </a:p>
        </p:txBody>
      </p:sp>
      <p:sp>
        <p:nvSpPr>
          <p:cNvPr id="27" name="flow-step"/>
          <p:cNvSpPr/>
          <p:nvPr/>
        </p:nvSpPr>
        <p:spPr>
          <a:xfrm>
            <a:off x="548640" y="3584448"/>
            <a:ext cx="1371600" cy="960120"/>
          </a:xfrm>
          <a:prstGeom prst="roundRect">
            <a:avLst>
              <a:gd name="adj" fmla="val 9524"/>
            </a:avLst>
          </a:prstGeom>
          <a:solidFill>
            <a:srgbClr val="1E3A8A"/>
          </a:solidFill>
          <a:ln w="12700">
            <a:solidFill>
              <a:srgbClr val="1E3A8A"/>
            </a:solidFill>
            <a:prstDash val="solid"/>
          </a:ln>
        </p:spPr>
      </p:sp>
      <p:pic>
        <p:nvPicPr>
          <p:cNvPr id="28" name="flow-icon" descr="preencoded.png">    </p:cNvPr>
          <p:cNvPicPr>
            <a:picLocks noChangeAspect="1"/>
          </p:cNvPicPr>
          <p:nvPr/>
        </p:nvPicPr>
        <p:blipFill>
          <a:blip r:embed="rId4"/>
          <a:stretch>
            <a:fillRect/>
          </a:stretch>
        </p:blipFill>
        <p:spPr>
          <a:xfrm>
            <a:off x="1115568" y="3657600"/>
            <a:ext cx="237744" cy="237744"/>
          </a:xfrm>
          <a:prstGeom prst="rect">
            <a:avLst/>
          </a:prstGeom>
        </p:spPr>
      </p:pic>
      <p:sp>
        <p:nvSpPr>
          <p:cNvPr id="29" name="Text 22"/>
          <p:cNvSpPr txBox="1"/>
          <p:nvPr/>
        </p:nvSpPr>
        <p:spPr>
          <a:xfrm>
            <a:off x="603504" y="3913632"/>
            <a:ext cx="12618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Speak your day</a:t>
            </a:r>
            <a:endParaRPr lang="en-US" sz="1050" dirty="0"/>
          </a:p>
        </p:txBody>
      </p:sp>
      <p:sp>
        <p:nvSpPr>
          <p:cNvPr id="30" name="Text 23"/>
          <p:cNvSpPr txBox="1"/>
          <p:nvPr/>
        </p:nvSpPr>
        <p:spPr>
          <a:xfrm>
            <a:off x="603504" y="4187952"/>
            <a:ext cx="1261872" cy="329184"/>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Kaam Kahani, any Indian language</a:t>
            </a:r>
            <a:endParaRPr lang="en-US" sz="800" dirty="0"/>
          </a:p>
        </p:txBody>
      </p:sp>
      <p:sp>
        <p:nvSpPr>
          <p:cNvPr id="31" name="connector"/>
          <p:cNvSpPr/>
          <p:nvPr/>
        </p:nvSpPr>
        <p:spPr>
          <a:xfrm>
            <a:off x="1938528" y="4064508"/>
            <a:ext cx="212293" cy="914"/>
          </a:xfrm>
          <a:prstGeom prst="line">
            <a:avLst/>
          </a:prstGeom>
          <a:noFill/>
          <a:ln w="31750">
            <a:solidFill>
              <a:srgbClr val="F59E0B"/>
            </a:solidFill>
            <a:prstDash val="solid"/>
            <a:tailEnd type="triangle"/>
          </a:ln>
        </p:spPr>
      </p:sp>
      <p:sp>
        <p:nvSpPr>
          <p:cNvPr id="32" name="flow-step"/>
          <p:cNvSpPr/>
          <p:nvPr/>
        </p:nvSpPr>
        <p:spPr>
          <a:xfrm>
            <a:off x="2169109" y="3584448"/>
            <a:ext cx="1371600" cy="960120"/>
          </a:xfrm>
          <a:prstGeom prst="roundRect">
            <a:avLst>
              <a:gd name="adj" fmla="val 9524"/>
            </a:avLst>
          </a:prstGeom>
          <a:solidFill>
            <a:srgbClr val="0D9488"/>
          </a:solidFill>
          <a:ln w="12700">
            <a:solidFill>
              <a:srgbClr val="0D9488"/>
            </a:solidFill>
            <a:prstDash val="solid"/>
          </a:ln>
        </p:spPr>
      </p:sp>
      <p:pic>
        <p:nvPicPr>
          <p:cNvPr id="33" name="flow-icon" descr="preencoded.png">    </p:cNvPr>
          <p:cNvPicPr>
            <a:picLocks noChangeAspect="1"/>
          </p:cNvPicPr>
          <p:nvPr/>
        </p:nvPicPr>
        <p:blipFill>
          <a:blip r:embed="rId5"/>
          <a:stretch>
            <a:fillRect/>
          </a:stretch>
        </p:blipFill>
        <p:spPr>
          <a:xfrm>
            <a:off x="2736037" y="3657600"/>
            <a:ext cx="237744" cy="237744"/>
          </a:xfrm>
          <a:prstGeom prst="rect">
            <a:avLst/>
          </a:prstGeom>
        </p:spPr>
      </p:pic>
      <p:sp>
        <p:nvSpPr>
          <p:cNvPr id="34" name="Text 26"/>
          <p:cNvSpPr txBox="1"/>
          <p:nvPr/>
        </p:nvSpPr>
        <p:spPr>
          <a:xfrm>
            <a:off x="2223973" y="3913632"/>
            <a:ext cx="12618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Skill Passport</a:t>
            </a:r>
            <a:endParaRPr lang="en-US" sz="1050" dirty="0"/>
          </a:p>
        </p:txBody>
      </p:sp>
      <p:sp>
        <p:nvSpPr>
          <p:cNvPr id="35" name="Text 27"/>
          <p:cNvSpPr txBox="1"/>
          <p:nvPr/>
        </p:nvSpPr>
        <p:spPr>
          <a:xfrm>
            <a:off x="2223973" y="4187952"/>
            <a:ext cx="1261872" cy="329184"/>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Skills + your own words as proof</a:t>
            </a:r>
            <a:endParaRPr lang="en-US" sz="800" dirty="0"/>
          </a:p>
        </p:txBody>
      </p:sp>
      <p:sp>
        <p:nvSpPr>
          <p:cNvPr id="36" name="connector"/>
          <p:cNvSpPr/>
          <p:nvPr/>
        </p:nvSpPr>
        <p:spPr>
          <a:xfrm>
            <a:off x="3558997" y="4064508"/>
            <a:ext cx="212293" cy="914"/>
          </a:xfrm>
          <a:prstGeom prst="line">
            <a:avLst/>
          </a:prstGeom>
          <a:noFill/>
          <a:ln w="31750">
            <a:solidFill>
              <a:srgbClr val="F59E0B"/>
            </a:solidFill>
            <a:prstDash val="solid"/>
            <a:tailEnd type="triangle"/>
          </a:ln>
        </p:spPr>
      </p:sp>
      <p:sp>
        <p:nvSpPr>
          <p:cNvPr id="37" name="flow-step"/>
          <p:cNvSpPr/>
          <p:nvPr/>
        </p:nvSpPr>
        <p:spPr>
          <a:xfrm>
            <a:off x="3789578" y="3584448"/>
            <a:ext cx="1371600" cy="960120"/>
          </a:xfrm>
          <a:prstGeom prst="roundRect">
            <a:avLst>
              <a:gd name="adj" fmla="val 9524"/>
            </a:avLst>
          </a:prstGeom>
          <a:solidFill>
            <a:srgbClr val="1E3A8A"/>
          </a:solidFill>
          <a:ln w="12700">
            <a:solidFill>
              <a:srgbClr val="1E3A8A"/>
            </a:solidFill>
            <a:prstDash val="solid"/>
          </a:ln>
        </p:spPr>
      </p:sp>
      <p:pic>
        <p:nvPicPr>
          <p:cNvPr id="38" name="flow-icon" descr="preencoded.png">    </p:cNvPr>
          <p:cNvPicPr>
            <a:picLocks noChangeAspect="1"/>
          </p:cNvPicPr>
          <p:nvPr/>
        </p:nvPicPr>
        <p:blipFill>
          <a:blip r:embed="rId6"/>
          <a:stretch>
            <a:fillRect/>
          </a:stretch>
        </p:blipFill>
        <p:spPr>
          <a:xfrm>
            <a:off x="4356506" y="3657600"/>
            <a:ext cx="237744" cy="237744"/>
          </a:xfrm>
          <a:prstGeom prst="rect">
            <a:avLst/>
          </a:prstGeom>
        </p:spPr>
      </p:pic>
      <p:sp>
        <p:nvSpPr>
          <p:cNvPr id="39" name="Text 30"/>
          <p:cNvSpPr txBox="1"/>
          <p:nvPr/>
        </p:nvSpPr>
        <p:spPr>
          <a:xfrm>
            <a:off x="3844442" y="3913632"/>
            <a:ext cx="12618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Career Ladders</a:t>
            </a:r>
            <a:endParaRPr lang="en-US" sz="1050" dirty="0"/>
          </a:p>
        </p:txBody>
      </p:sp>
      <p:sp>
        <p:nvSpPr>
          <p:cNvPr id="40" name="Text 31"/>
          <p:cNvSpPr txBox="1"/>
          <p:nvPr/>
        </p:nvSpPr>
        <p:spPr>
          <a:xfrm>
            <a:off x="3844442" y="4187952"/>
            <a:ext cx="1261872" cy="329184"/>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Vocational, non-STEM + surprise</a:t>
            </a:r>
            <a:endParaRPr lang="en-US" sz="800" dirty="0"/>
          </a:p>
        </p:txBody>
      </p:sp>
      <p:sp>
        <p:nvSpPr>
          <p:cNvPr id="41" name="connector"/>
          <p:cNvSpPr/>
          <p:nvPr/>
        </p:nvSpPr>
        <p:spPr>
          <a:xfrm>
            <a:off x="5179466" y="4064508"/>
            <a:ext cx="212293" cy="914"/>
          </a:xfrm>
          <a:prstGeom prst="line">
            <a:avLst/>
          </a:prstGeom>
          <a:noFill/>
          <a:ln w="31750">
            <a:solidFill>
              <a:srgbClr val="F59E0B"/>
            </a:solidFill>
            <a:prstDash val="solid"/>
            <a:tailEnd type="triangle"/>
          </a:ln>
        </p:spPr>
      </p:sp>
      <p:sp>
        <p:nvSpPr>
          <p:cNvPr id="42" name="flow-step"/>
          <p:cNvSpPr/>
          <p:nvPr/>
        </p:nvSpPr>
        <p:spPr>
          <a:xfrm>
            <a:off x="5410048" y="3584448"/>
            <a:ext cx="1371600" cy="960120"/>
          </a:xfrm>
          <a:prstGeom prst="roundRect">
            <a:avLst>
              <a:gd name="adj" fmla="val 9524"/>
            </a:avLst>
          </a:prstGeom>
          <a:solidFill>
            <a:srgbClr val="0D9488"/>
          </a:solidFill>
          <a:ln w="12700">
            <a:solidFill>
              <a:srgbClr val="0D9488"/>
            </a:solidFill>
            <a:prstDash val="solid"/>
          </a:ln>
        </p:spPr>
      </p:sp>
      <p:pic>
        <p:nvPicPr>
          <p:cNvPr id="43" name="flow-icon" descr="preencoded.png">    </p:cNvPr>
          <p:cNvPicPr>
            <a:picLocks noChangeAspect="1"/>
          </p:cNvPicPr>
          <p:nvPr/>
        </p:nvPicPr>
        <p:blipFill>
          <a:blip r:embed="rId7"/>
          <a:stretch>
            <a:fillRect/>
          </a:stretch>
        </p:blipFill>
        <p:spPr>
          <a:xfrm>
            <a:off x="5976976" y="3657600"/>
            <a:ext cx="237744" cy="237744"/>
          </a:xfrm>
          <a:prstGeom prst="rect">
            <a:avLst/>
          </a:prstGeom>
        </p:spPr>
      </p:pic>
      <p:sp>
        <p:nvSpPr>
          <p:cNvPr id="44" name="Text 34"/>
          <p:cNvSpPr txBox="1"/>
          <p:nvPr/>
        </p:nvSpPr>
        <p:spPr>
          <a:xfrm>
            <a:off x="5464912" y="3913632"/>
            <a:ext cx="12618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Kamai Calculator</a:t>
            </a:r>
            <a:endParaRPr lang="en-US" sz="1050" dirty="0"/>
          </a:p>
        </p:txBody>
      </p:sp>
      <p:sp>
        <p:nvSpPr>
          <p:cNvPr id="45" name="Text 35"/>
          <p:cNvSpPr txBox="1"/>
          <p:nvPr/>
        </p:nvSpPr>
        <p:spPr>
          <a:xfrm>
            <a:off x="5464912" y="4187952"/>
            <a:ext cx="1261872" cy="329184"/>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First income, stipend, cost</a:t>
            </a:r>
            <a:endParaRPr lang="en-US" sz="800" dirty="0"/>
          </a:p>
        </p:txBody>
      </p:sp>
      <p:sp>
        <p:nvSpPr>
          <p:cNvPr id="46" name="connector"/>
          <p:cNvSpPr/>
          <p:nvPr/>
        </p:nvSpPr>
        <p:spPr>
          <a:xfrm>
            <a:off x="6799936" y="4064508"/>
            <a:ext cx="212293" cy="914"/>
          </a:xfrm>
          <a:prstGeom prst="line">
            <a:avLst/>
          </a:prstGeom>
          <a:noFill/>
          <a:ln w="31750">
            <a:solidFill>
              <a:srgbClr val="F59E0B"/>
            </a:solidFill>
            <a:prstDash val="solid"/>
            <a:tailEnd type="triangle"/>
          </a:ln>
        </p:spPr>
      </p:sp>
      <p:sp>
        <p:nvSpPr>
          <p:cNvPr id="47" name="flow-step"/>
          <p:cNvSpPr/>
          <p:nvPr/>
        </p:nvSpPr>
        <p:spPr>
          <a:xfrm>
            <a:off x="7030517" y="3584448"/>
            <a:ext cx="1371600" cy="960120"/>
          </a:xfrm>
          <a:prstGeom prst="roundRect">
            <a:avLst>
              <a:gd name="adj" fmla="val 9524"/>
            </a:avLst>
          </a:prstGeom>
          <a:solidFill>
            <a:srgbClr val="1E3A8A"/>
          </a:solidFill>
          <a:ln w="12700">
            <a:solidFill>
              <a:srgbClr val="1E3A8A"/>
            </a:solidFill>
            <a:prstDash val="solid"/>
          </a:ln>
        </p:spPr>
      </p:sp>
      <p:pic>
        <p:nvPicPr>
          <p:cNvPr id="48" name="flow-icon" descr="preencoded.png">    </p:cNvPr>
          <p:cNvPicPr>
            <a:picLocks noChangeAspect="1"/>
          </p:cNvPicPr>
          <p:nvPr/>
        </p:nvPicPr>
        <p:blipFill>
          <a:blip r:embed="rId8"/>
          <a:stretch>
            <a:fillRect/>
          </a:stretch>
        </p:blipFill>
        <p:spPr>
          <a:xfrm>
            <a:off x="7597445" y="3657600"/>
            <a:ext cx="237744" cy="237744"/>
          </a:xfrm>
          <a:prstGeom prst="rect">
            <a:avLst/>
          </a:prstGeom>
        </p:spPr>
      </p:pic>
      <p:sp>
        <p:nvSpPr>
          <p:cNvPr id="49" name="Text 38"/>
          <p:cNvSpPr txBox="1"/>
          <p:nvPr/>
        </p:nvSpPr>
        <p:spPr>
          <a:xfrm>
            <a:off x="7085381" y="3913632"/>
            <a:ext cx="12618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Parent Pitch</a:t>
            </a:r>
            <a:endParaRPr lang="en-US" sz="1050" dirty="0"/>
          </a:p>
        </p:txBody>
      </p:sp>
      <p:sp>
        <p:nvSpPr>
          <p:cNvPr id="50" name="Text 39"/>
          <p:cNvSpPr txBox="1"/>
          <p:nvPr/>
        </p:nvSpPr>
        <p:spPr>
          <a:xfrm>
            <a:off x="7085381" y="4187952"/>
            <a:ext cx="1261872" cy="329184"/>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Voice note on WhatsApp</a:t>
            </a:r>
            <a:endParaRPr lang="en-US" sz="800" dirty="0"/>
          </a:p>
        </p:txBody>
      </p:sp>
      <p:sp>
        <p:nvSpPr>
          <p:cNvPr id="51" name="connector"/>
          <p:cNvSpPr/>
          <p:nvPr/>
        </p:nvSpPr>
        <p:spPr>
          <a:xfrm>
            <a:off x="8420405" y="4064508"/>
            <a:ext cx="212293" cy="914"/>
          </a:xfrm>
          <a:prstGeom prst="line">
            <a:avLst/>
          </a:prstGeom>
          <a:noFill/>
          <a:ln w="31750">
            <a:solidFill>
              <a:srgbClr val="F59E0B"/>
            </a:solidFill>
            <a:prstDash val="solid"/>
            <a:tailEnd type="triangle"/>
          </a:ln>
        </p:spPr>
      </p:sp>
      <p:sp>
        <p:nvSpPr>
          <p:cNvPr id="52" name="flow-step"/>
          <p:cNvSpPr/>
          <p:nvPr/>
        </p:nvSpPr>
        <p:spPr>
          <a:xfrm>
            <a:off x="8650986" y="3584448"/>
            <a:ext cx="1371600" cy="960120"/>
          </a:xfrm>
          <a:prstGeom prst="roundRect">
            <a:avLst>
              <a:gd name="adj" fmla="val 9524"/>
            </a:avLst>
          </a:prstGeom>
          <a:solidFill>
            <a:srgbClr val="0D9488"/>
          </a:solidFill>
          <a:ln w="12700">
            <a:solidFill>
              <a:srgbClr val="0D9488"/>
            </a:solidFill>
            <a:prstDash val="solid"/>
          </a:ln>
        </p:spPr>
      </p:sp>
      <p:pic>
        <p:nvPicPr>
          <p:cNvPr id="53" name="flow-icon" descr="preencoded.png">    </p:cNvPr>
          <p:cNvPicPr>
            <a:picLocks noChangeAspect="1"/>
          </p:cNvPicPr>
          <p:nvPr/>
        </p:nvPicPr>
        <p:blipFill>
          <a:blip r:embed="rId9"/>
          <a:stretch>
            <a:fillRect/>
          </a:stretch>
        </p:blipFill>
        <p:spPr>
          <a:xfrm>
            <a:off x="9217914" y="3657600"/>
            <a:ext cx="237744" cy="237744"/>
          </a:xfrm>
          <a:prstGeom prst="rect">
            <a:avLst/>
          </a:prstGeom>
        </p:spPr>
      </p:pic>
      <p:sp>
        <p:nvSpPr>
          <p:cNvPr id="54" name="Text 42"/>
          <p:cNvSpPr txBox="1"/>
          <p:nvPr/>
        </p:nvSpPr>
        <p:spPr>
          <a:xfrm>
            <a:off x="8705850" y="3913632"/>
            <a:ext cx="12618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Opportunity Inbox</a:t>
            </a:r>
            <a:endParaRPr lang="en-US" sz="1050" dirty="0"/>
          </a:p>
        </p:txBody>
      </p:sp>
      <p:sp>
        <p:nvSpPr>
          <p:cNvPr id="55" name="Text 43"/>
          <p:cNvSpPr txBox="1"/>
          <p:nvPr/>
        </p:nvSpPr>
        <p:spPr>
          <a:xfrm>
            <a:off x="8705850" y="4187952"/>
            <a:ext cx="1261872" cy="329184"/>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Eligibility check + apply</a:t>
            </a:r>
            <a:endParaRPr lang="en-US" sz="800" dirty="0"/>
          </a:p>
        </p:txBody>
      </p:sp>
      <p:sp>
        <p:nvSpPr>
          <p:cNvPr id="56" name="connector"/>
          <p:cNvSpPr/>
          <p:nvPr/>
        </p:nvSpPr>
        <p:spPr>
          <a:xfrm>
            <a:off x="10040874" y="4064508"/>
            <a:ext cx="212293" cy="914"/>
          </a:xfrm>
          <a:prstGeom prst="line">
            <a:avLst/>
          </a:prstGeom>
          <a:noFill/>
          <a:ln w="31750">
            <a:solidFill>
              <a:srgbClr val="F59E0B"/>
            </a:solidFill>
            <a:prstDash val="solid"/>
            <a:tailEnd type="triangle"/>
          </a:ln>
        </p:spPr>
      </p:sp>
      <p:sp>
        <p:nvSpPr>
          <p:cNvPr id="57" name="flow-step"/>
          <p:cNvSpPr/>
          <p:nvPr/>
        </p:nvSpPr>
        <p:spPr>
          <a:xfrm>
            <a:off x="10271455" y="3584448"/>
            <a:ext cx="1371600" cy="960120"/>
          </a:xfrm>
          <a:prstGeom prst="roundRect">
            <a:avLst>
              <a:gd name="adj" fmla="val 9524"/>
            </a:avLst>
          </a:prstGeom>
          <a:solidFill>
            <a:srgbClr val="1E3A8A"/>
          </a:solidFill>
          <a:ln w="12700">
            <a:solidFill>
              <a:srgbClr val="1E3A8A"/>
            </a:solidFill>
            <a:prstDash val="solid"/>
          </a:ln>
        </p:spPr>
      </p:sp>
      <p:pic>
        <p:nvPicPr>
          <p:cNvPr id="58" name="flow-icon" descr="preencoded.png">    </p:cNvPr>
          <p:cNvPicPr>
            <a:picLocks noChangeAspect="1"/>
          </p:cNvPicPr>
          <p:nvPr/>
        </p:nvPicPr>
        <p:blipFill>
          <a:blip r:embed="rId10"/>
          <a:stretch>
            <a:fillRect/>
          </a:stretch>
        </p:blipFill>
        <p:spPr>
          <a:xfrm>
            <a:off x="10838383" y="3657600"/>
            <a:ext cx="237744" cy="237744"/>
          </a:xfrm>
          <a:prstGeom prst="rect">
            <a:avLst/>
          </a:prstGeom>
        </p:spPr>
      </p:pic>
      <p:sp>
        <p:nvSpPr>
          <p:cNvPr id="59" name="Text 46"/>
          <p:cNvSpPr txBox="1"/>
          <p:nvPr/>
        </p:nvSpPr>
        <p:spPr>
          <a:xfrm>
            <a:off x="10326319" y="3913632"/>
            <a:ext cx="126187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Badge &amp; first income</a:t>
            </a:r>
            <a:endParaRPr lang="en-US" sz="1050" dirty="0"/>
          </a:p>
        </p:txBody>
      </p:sp>
      <p:sp>
        <p:nvSpPr>
          <p:cNvPr id="60" name="Text 47"/>
          <p:cNvSpPr txBox="1"/>
          <p:nvPr/>
        </p:nvSpPr>
        <p:spPr>
          <a:xfrm>
            <a:off x="10326319" y="4187952"/>
            <a:ext cx="1261872" cy="329184"/>
          </a:xfrm>
          <a:prstGeom prst="rect">
            <a:avLst/>
          </a:prstGeom>
          <a:noFill/>
          <a:ln/>
        </p:spPr>
        <p:txBody>
          <a:bodyPr wrap="square" lIns="0" tIns="0" rIns="0" bIns="0" rtlCol="0" anchor="t"/>
          <a:lstStyle/>
          <a:p>
            <a:pPr algn="ctr" indent="0" marL="0">
              <a:buNone/>
            </a:pPr>
            <a:r>
              <a:rPr lang="en-US" sz="800" dirty="0">
                <a:solidFill>
                  <a:srgbClr val="FFFFFF"/>
                </a:solidFill>
                <a:latin typeface="Calibri" pitchFamily="34" charset="0"/>
                <a:ea typeface="Calibri" pitchFamily="34" charset="-122"/>
                <a:cs typeface="Calibri" pitchFamily="34" charset="-120"/>
              </a:rPr>
              <a:t>Verified skill</a:t>
            </a:r>
            <a:endParaRPr lang="en-US" sz="800" dirty="0"/>
          </a:p>
        </p:txBody>
      </p:sp>
      <p:sp>
        <p:nvSpPr>
          <p:cNvPr id="61" name="teacher-band"/>
          <p:cNvSpPr/>
          <p:nvPr/>
        </p:nvSpPr>
        <p:spPr>
          <a:xfrm>
            <a:off x="2169109" y="4681728"/>
            <a:ext cx="7853477" cy="292608"/>
          </a:xfrm>
          <a:prstGeom prst="roundRect">
            <a:avLst>
              <a:gd name="adj" fmla="val 25000"/>
            </a:avLst>
          </a:prstGeom>
          <a:solidFill>
            <a:srgbClr val="CCFBF1"/>
          </a:solidFill>
          <a:ln w="9525">
            <a:solidFill>
              <a:srgbClr val="0D9488"/>
            </a:solidFill>
            <a:prstDash val="solid"/>
          </a:ln>
        </p:spPr>
      </p:sp>
      <p:sp>
        <p:nvSpPr>
          <p:cNvPr id="62" name="Text 49"/>
          <p:cNvSpPr txBox="1"/>
          <p:nvPr/>
        </p:nvSpPr>
        <p:spPr>
          <a:xfrm>
            <a:off x="2169109" y="4681728"/>
            <a:ext cx="7853477" cy="292608"/>
          </a:xfrm>
          <a:prstGeom prst="rect">
            <a:avLst/>
          </a:prstGeom>
          <a:noFill/>
          <a:ln/>
        </p:spPr>
        <p:txBody>
          <a:bodyPr wrap="square" lIns="0" tIns="0" rIns="0" bIns="0" rtlCol="0" anchor="ctr"/>
          <a:lstStyle/>
          <a:p>
            <a:pPr algn="ctr" indent="0" marL="0">
              <a:buNone/>
            </a:pPr>
            <a:r>
              <a:rPr lang="en-US" sz="1050" b="1" dirty="0">
                <a:solidFill>
                  <a:srgbClr val="134E4A"/>
                </a:solidFill>
                <a:latin typeface="Calibri" pitchFamily="34" charset="0"/>
                <a:ea typeface="Calibri" pitchFamily="34" charset="-122"/>
                <a:cs typeface="Calibri" pitchFamily="34" charset="-120"/>
              </a:rPr>
              <a:t>🧑‍🏫  Teacher Talent Radar: endorse &amp; recommend</a:t>
            </a:r>
            <a:endParaRPr lang="en-US" sz="1050" dirty="0"/>
          </a:p>
        </p:txBody>
      </p:sp>
      <p:sp>
        <p:nvSpPr>
          <p:cNvPr id="63" name="connector"/>
          <p:cNvSpPr/>
          <p:nvPr/>
        </p:nvSpPr>
        <p:spPr>
          <a:xfrm flipV="1">
            <a:off x="2854909" y="4553712"/>
            <a:ext cx="914" cy="128016"/>
          </a:xfrm>
          <a:prstGeom prst="line">
            <a:avLst/>
          </a:prstGeom>
          <a:noFill/>
          <a:ln w="15875">
            <a:solidFill>
              <a:srgbClr val="0D9488"/>
            </a:solidFill>
            <a:prstDash val="dash"/>
            <a:tailEnd type="triangle"/>
          </a:ln>
        </p:spPr>
      </p:sp>
      <p:sp>
        <p:nvSpPr>
          <p:cNvPr id="64" name="connector"/>
          <p:cNvSpPr/>
          <p:nvPr/>
        </p:nvSpPr>
        <p:spPr>
          <a:xfrm flipV="1">
            <a:off x="9336786" y="4553712"/>
            <a:ext cx="914" cy="128016"/>
          </a:xfrm>
          <a:prstGeom prst="line">
            <a:avLst/>
          </a:prstGeom>
          <a:noFill/>
          <a:ln w="15875">
            <a:solidFill>
              <a:srgbClr val="0D9488"/>
            </a:solidFill>
            <a:prstDash val="dash"/>
            <a:tailEnd type="triangle"/>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5074920"/>
          <a:ext cx="11094415" cy="914400"/>
        </p:xfrm>
        <a:graphic>
          <a:graphicData uri="http://schemas.openxmlformats.org/drawingml/2006/table">
            <a:tbl>
              <a:tblPr/>
              <a:tblGrid>
                <a:gridCol w="2834640"/>
                <a:gridCol w="8257032"/>
              </a:tblGrid>
              <a:tr h="23774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Why these levers work</a:t>
                      </a:r>
                      <a:endParaRPr lang="en-US" sz="9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Evidence</a:t>
                      </a:r>
                      <a:endParaRPr lang="en-US" sz="95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334155"/>
                    </a:solidFill>
                  </a:tcPr>
                </a:tc>
              </a:tr>
              <a:tr h="237744">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Showing real earnings changes choices</a:t>
                      </a:r>
                      <a:endParaRPr lang="en-US" sz="9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Dominican Republic RCT: students told the real returns to schooling stayed 0.20–0.35 years longer in school (Jensen, QJE 2010)</a:t>
                      </a:r>
                      <a:endParaRPr lang="en-US" sz="9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Information + placement help opens jobs</a:t>
                      </a:r>
                      <a:endParaRPr lang="en-US" sz="9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India RCT in 80 villages: recruiting help made young women 4.6 pp more likely to hold BPO jobs and ~5 pp more likely to be in school (Jensen, QJE 2012)</a:t>
                      </a:r>
                      <a:endParaRPr lang="en-US" sz="9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37744">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Parents must be convinced</a:t>
                      </a:r>
                      <a:endParaRPr lang="en-US" sz="9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Bhutan RCTs: mentoring raised interest in vocational paths, but parental scepticism and stigma limited enrolment (Hayashi et al., JPAM 2025)</a:t>
                      </a:r>
                      <a:endParaRPr lang="en-US" sz="900" dirty="0">
                        <a:latin typeface="Calibri" charset="0"/>
                        <a:ea typeface="Calibri" charset="0"/>
                        <a:cs typeface="Calibri" charset="0"/>
                      </a:endParaRPr>
                    </a:p>
                  </a:txBody>
                  <a:tcPr marL="73152" marR="73152" marT="18288" marB="18288"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6" name="Text 52"/>
          <p:cNvSpPr txBox="1"/>
          <p:nvPr/>
        </p:nvSpPr>
        <p:spPr>
          <a:xfrm>
            <a:off x="548640" y="6199632"/>
            <a:ext cx="11094415" cy="237744"/>
          </a:xfrm>
          <a:prstGeom prst="rect">
            <a:avLst/>
          </a:prstGeom>
          <a:noFill/>
          <a:ln/>
        </p:spPr>
        <p:txBody>
          <a:bodyPr wrap="square" lIns="0" tIns="0" rIns="0" bIns="0" rtlCol="0" anchor="ctr"/>
          <a:lstStyle/>
          <a:p>
            <a:pPr indent="0" marL="0">
              <a:buNone/>
            </a:pPr>
            <a:r>
              <a:rPr lang="en-US" sz="1000" i="1" dirty="0">
                <a:solidFill>
                  <a:srgbClr val="0D9488"/>
                </a:solidFill>
                <a:latin typeface="Calibri" pitchFamily="34" charset="0"/>
                <a:ea typeface="Calibri" pitchFamily="34" charset="-122"/>
                <a:cs typeface="Calibri" pitchFamily="34" charset="-120"/>
              </a:rPr>
              <a:t>Low-end Android · 9 Indian languages · voice in and out · Low-Data Mode · open source (MIT)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E2EFDA"/>
          </a:solidFill>
          <a:ln w="12700">
            <a:solidFill>
              <a:srgbClr val="E2EFDA"/>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Key Metrics</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Choose 3 to 5 numbers or indicators that track key user actions and business growth. How will you define success for your company? What are the KPIs you want to aim for?</a:t>
            </a:r>
            <a:endParaRPr lang="en-US" sz="1200" dirty="0"/>
          </a:p>
        </p:txBody>
      </p:sp>
      <p:sp>
        <p:nvSpPr>
          <p:cNvPr id="8" name="Text 6"/>
          <p:cNvSpPr txBox="1"/>
          <p:nvPr/>
        </p:nvSpPr>
        <p:spPr>
          <a:xfrm>
            <a:off x="548640" y="1207008"/>
            <a:ext cx="11094415" cy="621792"/>
          </a:xfrm>
          <a:prstGeom prst="rect">
            <a:avLst/>
          </a:prstGeom>
          <a:noFill/>
          <a:ln/>
        </p:spPr>
        <p:txBody>
          <a:bodyPr wrap="square" lIns="0" tIns="0" rIns="0" bIns="0" rtlCol="0" anchor="t"/>
          <a:lstStyle/>
          <a:p>
            <a:pPr indent="0" marL="0">
              <a:buNone/>
            </a:pPr>
            <a:r>
              <a:rPr lang="en-US" sz="1800" b="1" dirty="0">
                <a:solidFill>
                  <a:srgbClr val="1E3A8A"/>
                </a:solidFill>
                <a:latin typeface="Calibri" pitchFamily="34" charset="0"/>
                <a:ea typeface="Calibri" pitchFamily="34" charset="-122"/>
                <a:cs typeface="Calibri" pitchFamily="34" charset="-120"/>
              </a:rPr>
              <a:t>Success = more rural students reaching a first income sooner, on a path they and their family chose.</a:t>
            </a:r>
            <a:endParaRPr lang="en-US" sz="1800" dirty="0"/>
          </a:p>
        </p:txBody>
      </p:sp>
      <p:sp>
        <p:nvSpPr>
          <p:cNvPr id="9" name="Text 7"/>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10" name="Text 8"/>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4/9</a:t>
            </a:r>
            <a:endParaRPr lang="en-US" sz="1000" dirty="0"/>
          </a:p>
        </p:txBody>
      </p:sp>
      <p:sp>
        <p:nvSpPr>
          <p:cNvPr id="12" name="north-star"/>
          <p:cNvSpPr/>
          <p:nvPr/>
        </p:nvSpPr>
        <p:spPr>
          <a:xfrm>
            <a:off x="548640" y="1874520"/>
            <a:ext cx="11094415" cy="566928"/>
          </a:xfrm>
          <a:prstGeom prst="roundRect">
            <a:avLst>
              <a:gd name="adj" fmla="val 12903"/>
            </a:avLst>
          </a:prstGeom>
          <a:solidFill>
            <a:srgbClr val="15803D"/>
          </a:solidFill>
          <a:ln w="12700">
            <a:solidFill>
              <a:srgbClr val="15803D"/>
            </a:solidFill>
            <a:prstDash val="solid"/>
          </a:ln>
        </p:spPr>
      </p:sp>
      <p:sp>
        <p:nvSpPr>
          <p:cNvPr id="13" name="icon-circle"/>
          <p:cNvSpPr/>
          <p:nvPr/>
        </p:nvSpPr>
        <p:spPr>
          <a:xfrm>
            <a:off x="685800" y="1929384"/>
            <a:ext cx="457200" cy="457200"/>
          </a:xfrm>
          <a:prstGeom prst="ellipse">
            <a:avLst/>
          </a:prstGeom>
          <a:solidFill>
            <a:srgbClr val="F59E0B"/>
          </a:solidFill>
          <a:ln w="12700">
            <a:solidFill>
              <a:srgbClr val="F59E0B"/>
            </a:solidFill>
            <a:prstDash val="solid"/>
          </a:ln>
        </p:spPr>
      </p:sp>
      <p:pic>
        <p:nvPicPr>
          <p:cNvPr id="14" name="icon" descr="preencoded.png">    </p:cNvPr>
          <p:cNvPicPr>
            <a:picLocks noChangeAspect="1"/>
          </p:cNvPicPr>
          <p:nvPr/>
        </p:nvPicPr>
        <p:blipFill>
          <a:blip r:embed="rId1"/>
          <a:stretch>
            <a:fillRect/>
          </a:stretch>
        </p:blipFill>
        <p:spPr>
          <a:xfrm>
            <a:off x="795528" y="2039112"/>
            <a:ext cx="237744" cy="237744"/>
          </a:xfrm>
          <a:prstGeom prst="rect">
            <a:avLst/>
          </a:prstGeom>
        </p:spPr>
      </p:pic>
      <p:sp>
        <p:nvSpPr>
          <p:cNvPr id="15" name="Text 11"/>
          <p:cNvSpPr txBox="1"/>
          <p:nvPr/>
        </p:nvSpPr>
        <p:spPr>
          <a:xfrm>
            <a:off x="1280160" y="1874520"/>
            <a:ext cx="10180015" cy="56692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North star:  </a:t>
            </a:r>
            <a:pPr indent="0" marL="0">
              <a:buNone/>
            </a:pPr>
            <a:r>
              <a:rPr lang="en-US" sz="1400" dirty="0">
                <a:solidFill>
                  <a:srgbClr val="FFFFFF"/>
                </a:solidFill>
                <a:latin typeface="Calibri" pitchFamily="34" charset="0"/>
                <a:ea typeface="Calibri" pitchFamily="34" charset="-122"/>
                <a:cs typeface="Calibri" pitchFamily="34" charset="-120"/>
              </a:rPr>
              <a:t>Students who enrol in a skill path or start earning within 24 months of creating their Skill Passport</a:t>
            </a:r>
            <a:endParaRPr lang="en-US" sz="1400" dirty="0"/>
          </a:p>
        </p:txBody>
      </p:sp>
      <p:sp>
        <p:nvSpPr>
          <p:cNvPr id="16" name="card"/>
          <p:cNvSpPr/>
          <p:nvPr/>
        </p:nvSpPr>
        <p:spPr>
          <a:xfrm>
            <a:off x="548640" y="2606040"/>
            <a:ext cx="2072579" cy="2514600"/>
          </a:xfrm>
          <a:prstGeom prst="roundRect">
            <a:avLst>
              <a:gd name="adj" fmla="val 3530"/>
            </a:avLst>
          </a:prstGeom>
          <a:solidFill>
            <a:srgbClr val="F0FDF4"/>
          </a:solidFill>
          <a:ln w="9525">
            <a:solidFill>
              <a:srgbClr val="BBF7D0"/>
            </a:solidFill>
            <a:prstDash val="solid"/>
          </a:ln>
        </p:spPr>
      </p:sp>
      <p:sp>
        <p:nvSpPr>
          <p:cNvPr id="17" name="icon-circle"/>
          <p:cNvSpPr/>
          <p:nvPr/>
        </p:nvSpPr>
        <p:spPr>
          <a:xfrm>
            <a:off x="685800" y="2743200"/>
            <a:ext cx="411480" cy="411480"/>
          </a:xfrm>
          <a:prstGeom prst="ellipse">
            <a:avLst/>
          </a:prstGeom>
          <a:solidFill>
            <a:srgbClr val="16A34A"/>
          </a:solidFill>
          <a:ln w="12700">
            <a:solidFill>
              <a:srgbClr val="16A34A"/>
            </a:solidFill>
            <a:prstDash val="solid"/>
          </a:ln>
        </p:spPr>
      </p:sp>
      <p:pic>
        <p:nvPicPr>
          <p:cNvPr id="18" name="icon" descr="preencoded.png">    </p:cNvPr>
          <p:cNvPicPr>
            <a:picLocks noChangeAspect="1"/>
          </p:cNvPicPr>
          <p:nvPr/>
        </p:nvPicPr>
        <p:blipFill>
          <a:blip r:embed="rId2"/>
          <a:stretch>
            <a:fillRect/>
          </a:stretch>
        </p:blipFill>
        <p:spPr>
          <a:xfrm>
            <a:off x="784555" y="2841955"/>
            <a:ext cx="213970" cy="213970"/>
          </a:xfrm>
          <a:prstGeom prst="rect">
            <a:avLst/>
          </a:prstGeom>
        </p:spPr>
      </p:pic>
      <p:sp>
        <p:nvSpPr>
          <p:cNvPr id="19" name="Text 14"/>
          <p:cNvSpPr txBox="1"/>
          <p:nvPr/>
        </p:nvSpPr>
        <p:spPr>
          <a:xfrm>
            <a:off x="1170432" y="2715768"/>
            <a:ext cx="1359347" cy="475488"/>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1 · Skill Passports completed</a:t>
            </a:r>
            <a:endParaRPr lang="en-US" sz="1050" dirty="0"/>
          </a:p>
        </p:txBody>
      </p:sp>
      <p:sp>
        <p:nvSpPr>
          <p:cNvPr id="20" name="Text 15"/>
          <p:cNvSpPr txBox="1"/>
          <p:nvPr/>
        </p:nvSpPr>
        <p:spPr>
          <a:xfrm>
            <a:off x="685800" y="3264408"/>
            <a:ext cx="1798259" cy="502920"/>
          </a:xfrm>
          <a:prstGeom prst="rect">
            <a:avLst/>
          </a:prstGeom>
          <a:noFill/>
          <a:ln/>
        </p:spPr>
        <p:txBody>
          <a:bodyPr wrap="square" lIns="0" tIns="0" rIns="0" bIns="0" rtlCol="0" anchor="ctr"/>
          <a:lstStyle/>
          <a:p>
            <a:pPr indent="0" marL="0">
              <a:buNone/>
            </a:pPr>
            <a:r>
              <a:rPr lang="en-US" sz="2800" b="1" dirty="0">
                <a:solidFill>
                  <a:srgbClr val="15803D"/>
                </a:solidFill>
                <a:latin typeface="Calibri" pitchFamily="34" charset="0"/>
                <a:ea typeface="Calibri" pitchFamily="34" charset="-122"/>
                <a:cs typeface="Calibri" pitchFamily="34" charset="-120"/>
              </a:rPr>
              <a:t>5,000</a:t>
            </a:r>
            <a:endParaRPr lang="en-US" sz="2800" dirty="0"/>
          </a:p>
        </p:txBody>
      </p:sp>
      <p:sp>
        <p:nvSpPr>
          <p:cNvPr id="21" name="Text 16"/>
          <p:cNvSpPr txBox="1"/>
          <p:nvPr/>
        </p:nvSpPr>
        <p:spPr>
          <a:xfrm>
            <a:off x="685800" y="3776472"/>
            <a:ext cx="1798259" cy="182880"/>
          </a:xfrm>
          <a:prstGeom prst="rect">
            <a:avLst/>
          </a:prstGeom>
          <a:noFill/>
          <a:ln/>
        </p:spPr>
        <p:txBody>
          <a:bodyPr wrap="square" lIns="0" tIns="0" rIns="0" bIns="0" rtlCol="0" anchor="t"/>
          <a:lstStyle/>
          <a:p>
            <a:pPr indent="0" marL="0">
              <a:buNone/>
            </a:pPr>
            <a:r>
              <a:rPr lang="en-US" sz="800" b="1" spc="100" kern="0" dirty="0">
                <a:solidFill>
                  <a:srgbClr val="64748B"/>
                </a:solidFill>
                <a:latin typeface="Calibri" pitchFamily="34" charset="0"/>
                <a:ea typeface="Calibri" pitchFamily="34" charset="-122"/>
                <a:cs typeface="Calibri" pitchFamily="34" charset="-120"/>
              </a:rPr>
              <a:t>PILOT TARGET</a:t>
            </a:r>
            <a:endParaRPr lang="en-US" sz="800" dirty="0"/>
          </a:p>
        </p:txBody>
      </p:sp>
      <p:sp>
        <p:nvSpPr>
          <p:cNvPr id="22" name="Text 17"/>
          <p:cNvSpPr txBox="1"/>
          <p:nvPr/>
        </p:nvSpPr>
        <p:spPr>
          <a:xfrm>
            <a:off x="685800" y="3977640"/>
            <a:ext cx="1798259" cy="502920"/>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50 schools/ITIs × ~100 students, ≥ 4 evidence-backed skills each</a:t>
            </a:r>
            <a:endParaRPr lang="en-US" sz="950" dirty="0"/>
          </a:p>
        </p:txBody>
      </p:sp>
      <p:sp>
        <p:nvSpPr>
          <p:cNvPr id="23" name="Text 18"/>
          <p:cNvSpPr txBox="1"/>
          <p:nvPr/>
        </p:nvSpPr>
        <p:spPr>
          <a:xfrm>
            <a:off x="685800" y="4498848"/>
            <a:ext cx="1798259" cy="566928"/>
          </a:xfrm>
          <a:prstGeom prst="rect">
            <a:avLst/>
          </a:prstGeom>
          <a:noFill/>
          <a:ln/>
        </p:spPr>
        <p:txBody>
          <a:bodyPr wrap="square" lIns="0" tIns="0" rIns="0" bIns="0" rtlCol="0" anchor="t"/>
          <a:lstStyle/>
          <a:p>
            <a:pPr indent="0" marL="0">
              <a:buNone/>
            </a:pPr>
            <a:r>
              <a:rPr lang="en-US" sz="900" i="1" dirty="0">
                <a:solidFill>
                  <a:srgbClr val="64748B"/>
                </a:solidFill>
                <a:latin typeface="Calibri" pitchFamily="34" charset="0"/>
                <a:ea typeface="Calibri" pitchFamily="34" charset="-122"/>
                <a:cs typeface="Calibri" pitchFamily="34" charset="-120"/>
              </a:rPr>
              <a:t>Today: no record of informal skills exists</a:t>
            </a:r>
            <a:endParaRPr lang="en-US" sz="900" dirty="0"/>
          </a:p>
        </p:txBody>
      </p:sp>
      <p:sp>
        <p:nvSpPr>
          <p:cNvPr id="24" name="card"/>
          <p:cNvSpPr/>
          <p:nvPr/>
        </p:nvSpPr>
        <p:spPr>
          <a:xfrm>
            <a:off x="2804099" y="2606040"/>
            <a:ext cx="2072579" cy="2514600"/>
          </a:xfrm>
          <a:prstGeom prst="roundRect">
            <a:avLst>
              <a:gd name="adj" fmla="val 3530"/>
            </a:avLst>
          </a:prstGeom>
          <a:solidFill>
            <a:srgbClr val="F0FDF4"/>
          </a:solidFill>
          <a:ln w="9525">
            <a:solidFill>
              <a:srgbClr val="BBF7D0"/>
            </a:solidFill>
            <a:prstDash val="solid"/>
          </a:ln>
        </p:spPr>
      </p:sp>
      <p:sp>
        <p:nvSpPr>
          <p:cNvPr id="25" name="icon-circle"/>
          <p:cNvSpPr/>
          <p:nvPr/>
        </p:nvSpPr>
        <p:spPr>
          <a:xfrm>
            <a:off x="2941259" y="2743200"/>
            <a:ext cx="411480" cy="411480"/>
          </a:xfrm>
          <a:prstGeom prst="ellipse">
            <a:avLst/>
          </a:prstGeom>
          <a:solidFill>
            <a:srgbClr val="16A34A"/>
          </a:solidFill>
          <a:ln w="12700">
            <a:solidFill>
              <a:srgbClr val="16A34A"/>
            </a:solidFill>
            <a:prstDash val="solid"/>
          </a:ln>
        </p:spPr>
      </p:sp>
      <p:pic>
        <p:nvPicPr>
          <p:cNvPr id="26" name="icon" descr="preencoded.png">    </p:cNvPr>
          <p:cNvPicPr>
            <a:picLocks noChangeAspect="1"/>
          </p:cNvPicPr>
          <p:nvPr/>
        </p:nvPicPr>
        <p:blipFill>
          <a:blip r:embed="rId3"/>
          <a:stretch>
            <a:fillRect/>
          </a:stretch>
        </p:blipFill>
        <p:spPr>
          <a:xfrm>
            <a:off x="3040014" y="2841955"/>
            <a:ext cx="213970" cy="213970"/>
          </a:xfrm>
          <a:prstGeom prst="rect">
            <a:avLst/>
          </a:prstGeom>
        </p:spPr>
      </p:pic>
      <p:sp>
        <p:nvSpPr>
          <p:cNvPr id="27" name="Text 21"/>
          <p:cNvSpPr txBox="1"/>
          <p:nvPr/>
        </p:nvSpPr>
        <p:spPr>
          <a:xfrm>
            <a:off x="3425891" y="2715768"/>
            <a:ext cx="1359347" cy="475488"/>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2 · Options widened</a:t>
            </a:r>
            <a:endParaRPr lang="en-US" sz="1050" dirty="0"/>
          </a:p>
        </p:txBody>
      </p:sp>
      <p:sp>
        <p:nvSpPr>
          <p:cNvPr id="28" name="Text 22"/>
          <p:cNvSpPr txBox="1"/>
          <p:nvPr/>
        </p:nvSpPr>
        <p:spPr>
          <a:xfrm>
            <a:off x="2941259" y="3264408"/>
            <a:ext cx="1798259" cy="502920"/>
          </a:xfrm>
          <a:prstGeom prst="rect">
            <a:avLst/>
          </a:prstGeom>
          <a:noFill/>
          <a:ln/>
        </p:spPr>
        <p:txBody>
          <a:bodyPr wrap="square" lIns="0" tIns="0" rIns="0" bIns="0" rtlCol="0" anchor="ctr"/>
          <a:lstStyle/>
          <a:p>
            <a:pPr indent="0" marL="0">
              <a:buNone/>
            </a:pPr>
            <a:r>
              <a:rPr lang="en-US" sz="2800" b="1" dirty="0">
                <a:solidFill>
                  <a:srgbClr val="15803D"/>
                </a:solidFill>
                <a:latin typeface="Calibri" pitchFamily="34" charset="0"/>
                <a:ea typeface="Calibri" pitchFamily="34" charset="-122"/>
                <a:cs typeface="Calibri" pitchFamily="34" charset="-120"/>
              </a:rPr>
              <a:t>≥ 40%</a:t>
            </a:r>
            <a:endParaRPr lang="en-US" sz="2800" dirty="0"/>
          </a:p>
        </p:txBody>
      </p:sp>
      <p:sp>
        <p:nvSpPr>
          <p:cNvPr id="29" name="Text 23"/>
          <p:cNvSpPr txBox="1"/>
          <p:nvPr/>
        </p:nvSpPr>
        <p:spPr>
          <a:xfrm>
            <a:off x="2941259" y="3776472"/>
            <a:ext cx="1798259" cy="182880"/>
          </a:xfrm>
          <a:prstGeom prst="rect">
            <a:avLst/>
          </a:prstGeom>
          <a:noFill/>
          <a:ln/>
        </p:spPr>
        <p:txBody>
          <a:bodyPr wrap="square" lIns="0" tIns="0" rIns="0" bIns="0" rtlCol="0" anchor="t"/>
          <a:lstStyle/>
          <a:p>
            <a:pPr indent="0" marL="0">
              <a:buNone/>
            </a:pPr>
            <a:r>
              <a:rPr lang="en-US" sz="800" b="1" spc="100" kern="0" dirty="0">
                <a:solidFill>
                  <a:srgbClr val="64748B"/>
                </a:solidFill>
                <a:latin typeface="Calibri" pitchFamily="34" charset="0"/>
                <a:ea typeface="Calibri" pitchFamily="34" charset="-122"/>
                <a:cs typeface="Calibri" pitchFamily="34" charset="-120"/>
              </a:rPr>
              <a:t>PILOT TARGET</a:t>
            </a:r>
            <a:endParaRPr lang="en-US" sz="800" dirty="0"/>
          </a:p>
        </p:txBody>
      </p:sp>
      <p:sp>
        <p:nvSpPr>
          <p:cNvPr id="30" name="Text 24"/>
          <p:cNvSpPr txBox="1"/>
          <p:nvPr/>
        </p:nvSpPr>
        <p:spPr>
          <a:xfrm>
            <a:off x="2941259" y="3977640"/>
            <a:ext cx="1798259" cy="502920"/>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explore a vocational / non-STEM path</a:t>
            </a:r>
            <a:endParaRPr lang="en-US" sz="950" dirty="0"/>
          </a:p>
        </p:txBody>
      </p:sp>
      <p:sp>
        <p:nvSpPr>
          <p:cNvPr id="31" name="Text 25"/>
          <p:cNvSpPr txBox="1"/>
          <p:nvPr/>
        </p:nvSpPr>
        <p:spPr>
          <a:xfrm>
            <a:off x="2941259" y="4498848"/>
            <a:ext cx="1798259" cy="566928"/>
          </a:xfrm>
          <a:prstGeom prst="rect">
            <a:avLst/>
          </a:prstGeom>
          <a:noFill/>
          <a:ln/>
        </p:spPr>
        <p:txBody>
          <a:bodyPr wrap="square" lIns="0" tIns="0" rIns="0" bIns="0" rtlCol="0" anchor="t"/>
          <a:lstStyle/>
          <a:p>
            <a:pPr indent="0" marL="0">
              <a:buNone/>
            </a:pPr>
            <a:r>
              <a:rPr lang="en-US" sz="900" i="1" dirty="0">
                <a:solidFill>
                  <a:srgbClr val="64748B"/>
                </a:solidFill>
                <a:latin typeface="Calibri" pitchFamily="34" charset="0"/>
                <a:ea typeface="Calibri" pitchFamily="34" charset="-122"/>
                <a:cs typeface="Calibri" pitchFamily="34" charset="-120"/>
              </a:rPr>
              <a:t>Today: only 5.6% of rural 14–18s take any vocational training</a:t>
            </a:r>
            <a:endParaRPr lang="en-US" sz="900" dirty="0"/>
          </a:p>
        </p:txBody>
      </p:sp>
      <p:sp>
        <p:nvSpPr>
          <p:cNvPr id="32" name="card"/>
          <p:cNvSpPr/>
          <p:nvPr/>
        </p:nvSpPr>
        <p:spPr>
          <a:xfrm>
            <a:off x="5059558" y="2606040"/>
            <a:ext cx="2072579" cy="2514600"/>
          </a:xfrm>
          <a:prstGeom prst="roundRect">
            <a:avLst>
              <a:gd name="adj" fmla="val 3530"/>
            </a:avLst>
          </a:prstGeom>
          <a:solidFill>
            <a:srgbClr val="F0FDF4"/>
          </a:solidFill>
          <a:ln w="9525">
            <a:solidFill>
              <a:srgbClr val="BBF7D0"/>
            </a:solidFill>
            <a:prstDash val="solid"/>
          </a:ln>
        </p:spPr>
      </p:sp>
      <p:sp>
        <p:nvSpPr>
          <p:cNvPr id="33" name="icon-circle"/>
          <p:cNvSpPr/>
          <p:nvPr/>
        </p:nvSpPr>
        <p:spPr>
          <a:xfrm>
            <a:off x="5196718" y="2743200"/>
            <a:ext cx="411480" cy="411480"/>
          </a:xfrm>
          <a:prstGeom prst="ellipse">
            <a:avLst/>
          </a:prstGeom>
          <a:solidFill>
            <a:srgbClr val="16A34A"/>
          </a:solidFill>
          <a:ln w="12700">
            <a:solidFill>
              <a:srgbClr val="16A34A"/>
            </a:solidFill>
            <a:prstDash val="solid"/>
          </a:ln>
        </p:spPr>
      </p:sp>
      <p:pic>
        <p:nvPicPr>
          <p:cNvPr id="34" name="icon" descr="preencoded.png">    </p:cNvPr>
          <p:cNvPicPr>
            <a:picLocks noChangeAspect="1"/>
          </p:cNvPicPr>
          <p:nvPr/>
        </p:nvPicPr>
        <p:blipFill>
          <a:blip r:embed="rId4"/>
          <a:stretch>
            <a:fillRect/>
          </a:stretch>
        </p:blipFill>
        <p:spPr>
          <a:xfrm>
            <a:off x="5295473" y="2841955"/>
            <a:ext cx="213970" cy="213970"/>
          </a:xfrm>
          <a:prstGeom prst="rect">
            <a:avLst/>
          </a:prstGeom>
        </p:spPr>
      </p:pic>
      <p:sp>
        <p:nvSpPr>
          <p:cNvPr id="35" name="Text 28"/>
          <p:cNvSpPr txBox="1"/>
          <p:nvPr/>
        </p:nvSpPr>
        <p:spPr>
          <a:xfrm>
            <a:off x="5681350" y="2715768"/>
            <a:ext cx="1359347" cy="475488"/>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3 · Family reached</a:t>
            </a:r>
            <a:endParaRPr lang="en-US" sz="1050" dirty="0"/>
          </a:p>
        </p:txBody>
      </p:sp>
      <p:sp>
        <p:nvSpPr>
          <p:cNvPr id="36" name="Text 29"/>
          <p:cNvSpPr txBox="1"/>
          <p:nvPr/>
        </p:nvSpPr>
        <p:spPr>
          <a:xfrm>
            <a:off x="5196718" y="3264408"/>
            <a:ext cx="1798259" cy="502920"/>
          </a:xfrm>
          <a:prstGeom prst="rect">
            <a:avLst/>
          </a:prstGeom>
          <a:noFill/>
          <a:ln/>
        </p:spPr>
        <p:txBody>
          <a:bodyPr wrap="square" lIns="0" tIns="0" rIns="0" bIns="0" rtlCol="0" anchor="ctr"/>
          <a:lstStyle/>
          <a:p>
            <a:pPr indent="0" marL="0">
              <a:buNone/>
            </a:pPr>
            <a:r>
              <a:rPr lang="en-US" sz="2800" b="1" dirty="0">
                <a:solidFill>
                  <a:srgbClr val="15803D"/>
                </a:solidFill>
                <a:latin typeface="Calibri" pitchFamily="34" charset="0"/>
                <a:ea typeface="Calibri" pitchFamily="34" charset="-122"/>
                <a:cs typeface="Calibri" pitchFamily="34" charset="-120"/>
              </a:rPr>
              <a:t>≥ 60%</a:t>
            </a:r>
            <a:endParaRPr lang="en-US" sz="2800" dirty="0"/>
          </a:p>
        </p:txBody>
      </p:sp>
      <p:sp>
        <p:nvSpPr>
          <p:cNvPr id="37" name="Text 30"/>
          <p:cNvSpPr txBox="1"/>
          <p:nvPr/>
        </p:nvSpPr>
        <p:spPr>
          <a:xfrm>
            <a:off x="5196718" y="3776472"/>
            <a:ext cx="1798259" cy="182880"/>
          </a:xfrm>
          <a:prstGeom prst="rect">
            <a:avLst/>
          </a:prstGeom>
          <a:noFill/>
          <a:ln/>
        </p:spPr>
        <p:txBody>
          <a:bodyPr wrap="square" lIns="0" tIns="0" rIns="0" bIns="0" rtlCol="0" anchor="t"/>
          <a:lstStyle/>
          <a:p>
            <a:pPr indent="0" marL="0">
              <a:buNone/>
            </a:pPr>
            <a:r>
              <a:rPr lang="en-US" sz="800" b="1" spc="100" kern="0" dirty="0">
                <a:solidFill>
                  <a:srgbClr val="64748B"/>
                </a:solidFill>
                <a:latin typeface="Calibri" pitchFamily="34" charset="0"/>
                <a:ea typeface="Calibri" pitchFamily="34" charset="-122"/>
                <a:cs typeface="Calibri" pitchFamily="34" charset="-120"/>
              </a:rPr>
              <a:t>PILOT TARGET</a:t>
            </a:r>
            <a:endParaRPr lang="en-US" sz="800" dirty="0"/>
          </a:p>
        </p:txBody>
      </p:sp>
      <p:sp>
        <p:nvSpPr>
          <p:cNvPr id="38" name="Text 31"/>
          <p:cNvSpPr txBox="1"/>
          <p:nvPr/>
        </p:nvSpPr>
        <p:spPr>
          <a:xfrm>
            <a:off x="5196718" y="3977640"/>
            <a:ext cx="1798259" cy="502920"/>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of Parent Pitches played</a:t>
            </a:r>
            <a:endParaRPr lang="en-US" sz="950" dirty="0"/>
          </a:p>
        </p:txBody>
      </p:sp>
      <p:sp>
        <p:nvSpPr>
          <p:cNvPr id="39" name="Text 32"/>
          <p:cNvSpPr txBox="1"/>
          <p:nvPr/>
        </p:nvSpPr>
        <p:spPr>
          <a:xfrm>
            <a:off x="5196718" y="4498848"/>
            <a:ext cx="1798259" cy="566928"/>
          </a:xfrm>
          <a:prstGeom prst="rect">
            <a:avLst/>
          </a:prstGeom>
          <a:noFill/>
          <a:ln/>
        </p:spPr>
        <p:txBody>
          <a:bodyPr wrap="square" lIns="0" tIns="0" rIns="0" bIns="0" rtlCol="0" anchor="t"/>
          <a:lstStyle/>
          <a:p>
            <a:pPr indent="0" marL="0">
              <a:buNone/>
            </a:pPr>
            <a:r>
              <a:rPr lang="en-US" sz="900" i="1" dirty="0">
                <a:solidFill>
                  <a:srgbClr val="64748B"/>
                </a:solidFill>
                <a:latin typeface="Calibri" pitchFamily="34" charset="0"/>
                <a:ea typeface="Calibri" pitchFamily="34" charset="-122"/>
                <a:cs typeface="Calibri" pitchFamily="34" charset="-120"/>
              </a:rPr>
              <a:t>Today: 90.5% of rural youth used social media in the past week</a:t>
            </a:r>
            <a:endParaRPr lang="en-US" sz="900" dirty="0"/>
          </a:p>
        </p:txBody>
      </p:sp>
      <p:sp>
        <p:nvSpPr>
          <p:cNvPr id="40" name="card"/>
          <p:cNvSpPr/>
          <p:nvPr/>
        </p:nvSpPr>
        <p:spPr>
          <a:xfrm>
            <a:off x="7315017" y="2606040"/>
            <a:ext cx="2072579" cy="2514600"/>
          </a:xfrm>
          <a:prstGeom prst="roundRect">
            <a:avLst>
              <a:gd name="adj" fmla="val 3530"/>
            </a:avLst>
          </a:prstGeom>
          <a:solidFill>
            <a:srgbClr val="F0FDF4"/>
          </a:solidFill>
          <a:ln w="9525">
            <a:solidFill>
              <a:srgbClr val="BBF7D0"/>
            </a:solidFill>
            <a:prstDash val="solid"/>
          </a:ln>
        </p:spPr>
      </p:sp>
      <p:sp>
        <p:nvSpPr>
          <p:cNvPr id="41" name="icon-circle"/>
          <p:cNvSpPr/>
          <p:nvPr/>
        </p:nvSpPr>
        <p:spPr>
          <a:xfrm>
            <a:off x="7452177" y="2743200"/>
            <a:ext cx="411480" cy="411480"/>
          </a:xfrm>
          <a:prstGeom prst="ellipse">
            <a:avLst/>
          </a:prstGeom>
          <a:solidFill>
            <a:srgbClr val="16A34A"/>
          </a:solidFill>
          <a:ln w="12700">
            <a:solidFill>
              <a:srgbClr val="16A34A"/>
            </a:solidFill>
            <a:prstDash val="solid"/>
          </a:ln>
        </p:spPr>
      </p:sp>
      <p:pic>
        <p:nvPicPr>
          <p:cNvPr id="42" name="icon" descr="preencoded.png">    </p:cNvPr>
          <p:cNvPicPr>
            <a:picLocks noChangeAspect="1"/>
          </p:cNvPicPr>
          <p:nvPr/>
        </p:nvPicPr>
        <p:blipFill>
          <a:blip r:embed="rId5"/>
          <a:stretch>
            <a:fillRect/>
          </a:stretch>
        </p:blipFill>
        <p:spPr>
          <a:xfrm>
            <a:off x="7550932" y="2841955"/>
            <a:ext cx="213970" cy="213970"/>
          </a:xfrm>
          <a:prstGeom prst="rect">
            <a:avLst/>
          </a:prstGeom>
        </p:spPr>
      </p:pic>
      <p:sp>
        <p:nvSpPr>
          <p:cNvPr id="43" name="Text 35"/>
          <p:cNvSpPr txBox="1"/>
          <p:nvPr/>
        </p:nvSpPr>
        <p:spPr>
          <a:xfrm>
            <a:off x="7936809" y="2715768"/>
            <a:ext cx="1359347" cy="475488"/>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4 · Applications → enrolments</a:t>
            </a:r>
            <a:endParaRPr lang="en-US" sz="1050" dirty="0"/>
          </a:p>
        </p:txBody>
      </p:sp>
      <p:sp>
        <p:nvSpPr>
          <p:cNvPr id="44" name="Text 36"/>
          <p:cNvSpPr txBox="1"/>
          <p:nvPr/>
        </p:nvSpPr>
        <p:spPr>
          <a:xfrm>
            <a:off x="7452177" y="3264408"/>
            <a:ext cx="1798259" cy="502920"/>
          </a:xfrm>
          <a:prstGeom prst="rect">
            <a:avLst/>
          </a:prstGeom>
          <a:noFill/>
          <a:ln/>
        </p:spPr>
        <p:txBody>
          <a:bodyPr wrap="square" lIns="0" tIns="0" rIns="0" bIns="0" rtlCol="0" anchor="ctr"/>
          <a:lstStyle/>
          <a:p>
            <a:pPr indent="0" marL="0">
              <a:buNone/>
            </a:pPr>
            <a:r>
              <a:rPr lang="en-US" sz="2200" b="1" dirty="0">
                <a:solidFill>
                  <a:srgbClr val="15803D"/>
                </a:solidFill>
                <a:latin typeface="Calibri" pitchFamily="34" charset="0"/>
                <a:ea typeface="Calibri" pitchFamily="34" charset="-122"/>
                <a:cs typeface="Calibri" pitchFamily="34" charset="-120"/>
              </a:rPr>
              <a:t>≥ 25 · ≥ 10%</a:t>
            </a:r>
            <a:endParaRPr lang="en-US" sz="2200" dirty="0"/>
          </a:p>
        </p:txBody>
      </p:sp>
      <p:sp>
        <p:nvSpPr>
          <p:cNvPr id="45" name="Text 37"/>
          <p:cNvSpPr txBox="1"/>
          <p:nvPr/>
        </p:nvSpPr>
        <p:spPr>
          <a:xfrm>
            <a:off x="7452177" y="3776472"/>
            <a:ext cx="1798259" cy="182880"/>
          </a:xfrm>
          <a:prstGeom prst="rect">
            <a:avLst/>
          </a:prstGeom>
          <a:noFill/>
          <a:ln/>
        </p:spPr>
        <p:txBody>
          <a:bodyPr wrap="square" lIns="0" tIns="0" rIns="0" bIns="0" rtlCol="0" anchor="t"/>
          <a:lstStyle/>
          <a:p>
            <a:pPr indent="0" marL="0">
              <a:buNone/>
            </a:pPr>
            <a:r>
              <a:rPr lang="en-US" sz="800" b="1" spc="100" kern="0" dirty="0">
                <a:solidFill>
                  <a:srgbClr val="64748B"/>
                </a:solidFill>
                <a:latin typeface="Calibri" pitchFamily="34" charset="0"/>
                <a:ea typeface="Calibri" pitchFamily="34" charset="-122"/>
                <a:cs typeface="Calibri" pitchFamily="34" charset="-120"/>
              </a:rPr>
              <a:t>PILOT TARGET</a:t>
            </a:r>
            <a:endParaRPr lang="en-US" sz="800" dirty="0"/>
          </a:p>
        </p:txBody>
      </p:sp>
      <p:sp>
        <p:nvSpPr>
          <p:cNvPr id="46" name="Text 38"/>
          <p:cNvSpPr txBox="1"/>
          <p:nvPr/>
        </p:nvSpPr>
        <p:spPr>
          <a:xfrm>
            <a:off x="7452177" y="3977640"/>
            <a:ext cx="1798259" cy="502920"/>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applications per 100 passports · enrolled or placed</a:t>
            </a:r>
            <a:endParaRPr lang="en-US" sz="950" dirty="0"/>
          </a:p>
        </p:txBody>
      </p:sp>
      <p:sp>
        <p:nvSpPr>
          <p:cNvPr id="47" name="Text 39"/>
          <p:cNvSpPr txBox="1"/>
          <p:nvPr/>
        </p:nvSpPr>
        <p:spPr>
          <a:xfrm>
            <a:off x="7452177" y="4498848"/>
            <a:ext cx="1798259" cy="566928"/>
          </a:xfrm>
          <a:prstGeom prst="rect">
            <a:avLst/>
          </a:prstGeom>
          <a:noFill/>
          <a:ln/>
        </p:spPr>
        <p:txBody>
          <a:bodyPr wrap="square" lIns="0" tIns="0" rIns="0" bIns="0" rtlCol="0" anchor="t"/>
          <a:lstStyle/>
          <a:p>
            <a:pPr indent="0" marL="0">
              <a:buNone/>
            </a:pPr>
            <a:r>
              <a:rPr lang="en-US" sz="900" i="1" dirty="0">
                <a:solidFill>
                  <a:srgbClr val="64748B"/>
                </a:solidFill>
                <a:latin typeface="Calibri" pitchFamily="34" charset="0"/>
                <a:ea typeface="Calibri" pitchFamily="34" charset="-122"/>
                <a:cs typeface="Calibri" pitchFamily="34" charset="-120"/>
              </a:rPr>
              <a:t>Today: ITI seats only 48% filled; Suryamitra places ~50%</a:t>
            </a:r>
            <a:endParaRPr lang="en-US" sz="900" dirty="0"/>
          </a:p>
        </p:txBody>
      </p:sp>
      <p:sp>
        <p:nvSpPr>
          <p:cNvPr id="48" name="card"/>
          <p:cNvSpPr/>
          <p:nvPr/>
        </p:nvSpPr>
        <p:spPr>
          <a:xfrm>
            <a:off x="9570476" y="2606040"/>
            <a:ext cx="2072579" cy="2514600"/>
          </a:xfrm>
          <a:prstGeom prst="roundRect">
            <a:avLst>
              <a:gd name="adj" fmla="val 3530"/>
            </a:avLst>
          </a:prstGeom>
          <a:solidFill>
            <a:srgbClr val="F0FDF4"/>
          </a:solidFill>
          <a:ln w="9525">
            <a:solidFill>
              <a:srgbClr val="BBF7D0"/>
            </a:solidFill>
            <a:prstDash val="solid"/>
          </a:ln>
        </p:spPr>
      </p:sp>
      <p:sp>
        <p:nvSpPr>
          <p:cNvPr id="49" name="icon-circle"/>
          <p:cNvSpPr/>
          <p:nvPr/>
        </p:nvSpPr>
        <p:spPr>
          <a:xfrm>
            <a:off x="9707636" y="2743200"/>
            <a:ext cx="411480" cy="411480"/>
          </a:xfrm>
          <a:prstGeom prst="ellipse">
            <a:avLst/>
          </a:prstGeom>
          <a:solidFill>
            <a:srgbClr val="16A34A"/>
          </a:solidFill>
          <a:ln w="12700">
            <a:solidFill>
              <a:srgbClr val="16A34A"/>
            </a:solidFill>
            <a:prstDash val="solid"/>
          </a:ln>
        </p:spPr>
      </p:sp>
      <p:pic>
        <p:nvPicPr>
          <p:cNvPr id="50" name="icon" descr="preencoded.png">    </p:cNvPr>
          <p:cNvPicPr>
            <a:picLocks noChangeAspect="1"/>
          </p:cNvPicPr>
          <p:nvPr/>
        </p:nvPicPr>
        <p:blipFill>
          <a:blip r:embed="rId6"/>
          <a:stretch>
            <a:fillRect/>
          </a:stretch>
        </p:blipFill>
        <p:spPr>
          <a:xfrm>
            <a:off x="9806391" y="2841955"/>
            <a:ext cx="213970" cy="213970"/>
          </a:xfrm>
          <a:prstGeom prst="rect">
            <a:avLst/>
          </a:prstGeom>
        </p:spPr>
      </p:pic>
      <p:sp>
        <p:nvSpPr>
          <p:cNvPr id="51" name="Text 42"/>
          <p:cNvSpPr txBox="1"/>
          <p:nvPr/>
        </p:nvSpPr>
        <p:spPr>
          <a:xfrm>
            <a:off x="10192268" y="2715768"/>
            <a:ext cx="1359347" cy="475488"/>
          </a:xfrm>
          <a:prstGeom prst="rect">
            <a:avLst/>
          </a:prstGeom>
          <a:noFill/>
          <a:ln/>
        </p:spPr>
        <p:txBody>
          <a:bodyPr wrap="square" lIns="0" tIns="0" rIns="0" bIns="0" rtlCol="0" anchor="ctr"/>
          <a:lstStyle/>
          <a:p>
            <a:pPr indent="0" marL="0">
              <a:buNone/>
            </a:pPr>
            <a:r>
              <a:rPr lang="en-US" sz="1050" b="1" dirty="0">
                <a:solidFill>
                  <a:srgbClr val="1F2937"/>
                </a:solidFill>
                <a:latin typeface="Calibri" pitchFamily="34" charset="0"/>
                <a:ea typeface="Calibri" pitchFamily="34" charset="-122"/>
                <a:cs typeface="Calibri" pitchFamily="34" charset="-120"/>
              </a:rPr>
              <a:t>5 · Months to first income</a:t>
            </a:r>
            <a:endParaRPr lang="en-US" sz="1050" dirty="0"/>
          </a:p>
        </p:txBody>
      </p:sp>
      <p:sp>
        <p:nvSpPr>
          <p:cNvPr id="52" name="Text 43"/>
          <p:cNvSpPr txBox="1"/>
          <p:nvPr/>
        </p:nvSpPr>
        <p:spPr>
          <a:xfrm>
            <a:off x="9707636" y="3264408"/>
            <a:ext cx="1798259" cy="502920"/>
          </a:xfrm>
          <a:prstGeom prst="rect">
            <a:avLst/>
          </a:prstGeom>
          <a:noFill/>
          <a:ln/>
        </p:spPr>
        <p:txBody>
          <a:bodyPr wrap="square" lIns="0" tIns="0" rIns="0" bIns="0" rtlCol="0" anchor="ctr"/>
          <a:lstStyle/>
          <a:p>
            <a:pPr indent="0" marL="0">
              <a:buNone/>
            </a:pPr>
            <a:r>
              <a:rPr lang="en-US" sz="2800" b="1" dirty="0">
                <a:solidFill>
                  <a:srgbClr val="15803D"/>
                </a:solidFill>
                <a:latin typeface="Calibri" pitchFamily="34" charset="0"/>
                <a:ea typeface="Calibri" pitchFamily="34" charset="-122"/>
                <a:cs typeface="Calibri" pitchFamily="34" charset="-120"/>
              </a:rPr>
              <a:t>≤ 24 mo</a:t>
            </a:r>
            <a:endParaRPr lang="en-US" sz="2800" dirty="0"/>
          </a:p>
        </p:txBody>
      </p:sp>
      <p:sp>
        <p:nvSpPr>
          <p:cNvPr id="53" name="Text 44"/>
          <p:cNvSpPr txBox="1"/>
          <p:nvPr/>
        </p:nvSpPr>
        <p:spPr>
          <a:xfrm>
            <a:off x="9707636" y="3776472"/>
            <a:ext cx="1798259" cy="182880"/>
          </a:xfrm>
          <a:prstGeom prst="rect">
            <a:avLst/>
          </a:prstGeom>
          <a:noFill/>
          <a:ln/>
        </p:spPr>
        <p:txBody>
          <a:bodyPr wrap="square" lIns="0" tIns="0" rIns="0" bIns="0" rtlCol="0" anchor="t"/>
          <a:lstStyle/>
          <a:p>
            <a:pPr indent="0" marL="0">
              <a:buNone/>
            </a:pPr>
            <a:r>
              <a:rPr lang="en-US" sz="800" b="1" spc="100" kern="0" dirty="0">
                <a:solidFill>
                  <a:srgbClr val="64748B"/>
                </a:solidFill>
                <a:latin typeface="Calibri" pitchFamily="34" charset="0"/>
                <a:ea typeface="Calibri" pitchFamily="34" charset="-122"/>
                <a:cs typeface="Calibri" pitchFamily="34" charset="-120"/>
              </a:rPr>
              <a:t>PILOT TARGET</a:t>
            </a:r>
            <a:endParaRPr lang="en-US" sz="800" dirty="0"/>
          </a:p>
        </p:txBody>
      </p:sp>
      <p:sp>
        <p:nvSpPr>
          <p:cNvPr id="54" name="Text 45"/>
          <p:cNvSpPr txBox="1"/>
          <p:nvPr/>
        </p:nvSpPr>
        <p:spPr>
          <a:xfrm>
            <a:off x="9707636" y="3977640"/>
            <a:ext cx="1798259" cy="502920"/>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median from Class 10, for vocational choosers</a:t>
            </a:r>
            <a:endParaRPr lang="en-US" sz="950" dirty="0"/>
          </a:p>
        </p:txBody>
      </p:sp>
      <p:sp>
        <p:nvSpPr>
          <p:cNvPr id="55" name="Text 46"/>
          <p:cNvSpPr txBox="1"/>
          <p:nvPr/>
        </p:nvSpPr>
        <p:spPr>
          <a:xfrm>
            <a:off x="9707636" y="4498848"/>
            <a:ext cx="1798259" cy="566928"/>
          </a:xfrm>
          <a:prstGeom prst="rect">
            <a:avLst/>
          </a:prstGeom>
          <a:noFill/>
          <a:ln/>
        </p:spPr>
        <p:txBody>
          <a:bodyPr wrap="square" lIns="0" tIns="0" rIns="0" bIns="0" rtlCol="0" anchor="t"/>
          <a:lstStyle/>
          <a:p>
            <a:pPr indent="0" marL="0">
              <a:buNone/>
            </a:pPr>
            <a:r>
              <a:rPr lang="en-US" sz="900" i="1" dirty="0">
                <a:solidFill>
                  <a:srgbClr val="64748B"/>
                </a:solidFill>
                <a:latin typeface="Calibri" pitchFamily="34" charset="0"/>
                <a:ea typeface="Calibri" pitchFamily="34" charset="-122"/>
                <a:cs typeface="Calibri" pitchFamily="34" charset="-120"/>
              </a:rPr>
              <a:t>Today: degree path = 60 months of study (illustrative), then 29.1% graduate unemployment</a:t>
            </a:r>
            <a:endParaRPr lang="en-US" sz="900" dirty="0"/>
          </a:p>
        </p:txBody>
      </p:sp>
      <p:sp>
        <p:nvSpPr>
          <p:cNvPr id="56" name="card"/>
          <p:cNvSpPr/>
          <p:nvPr/>
        </p:nvSpPr>
        <p:spPr>
          <a:xfrm>
            <a:off x="548640" y="5257800"/>
            <a:ext cx="11094415" cy="457200"/>
          </a:xfrm>
          <a:prstGeom prst="roundRect">
            <a:avLst>
              <a:gd name="adj" fmla="val 16000"/>
            </a:avLst>
          </a:prstGeom>
          <a:solidFill>
            <a:srgbClr val="F8FAFC"/>
          </a:solidFill>
          <a:ln w="9525">
            <a:solidFill>
              <a:srgbClr val="E2E8F0"/>
            </a:solidFill>
            <a:prstDash val="solid"/>
          </a:ln>
        </p:spPr>
      </p:sp>
      <p:sp>
        <p:nvSpPr>
          <p:cNvPr id="57" name="Text 48"/>
          <p:cNvSpPr txBox="1"/>
          <p:nvPr/>
        </p:nvSpPr>
        <p:spPr>
          <a:xfrm>
            <a:off x="731520" y="5257800"/>
            <a:ext cx="10728655" cy="45720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Business health:  </a:t>
            </a:r>
            <a:pPr indent="0" marL="0">
              <a:buNone/>
            </a:pPr>
            <a:r>
              <a:rPr lang="en-US" sz="1100" dirty="0">
                <a:solidFill>
                  <a:srgbClr val="1F2937"/>
                </a:solidFill>
                <a:latin typeface="Calibri" pitchFamily="34" charset="0"/>
                <a:ea typeface="Calibri" pitchFamily="34" charset="-122"/>
                <a:cs typeface="Calibri" pitchFamily="34" charset="-120"/>
              </a:rPr>
              <a:t>Active facilitators · students per facilitator (target 30+) · modules published · sponsorship revenue · </a:t>
            </a:r>
            <a:pPr indent="0" marL="0">
              <a:buNone/>
            </a:pPr>
            <a:r>
              <a:rPr lang="en-US" sz="1100" b="1" dirty="0">
                <a:solidFill>
                  <a:srgbClr val="1F2937"/>
                </a:solidFill>
                <a:latin typeface="Calibri" pitchFamily="34" charset="0"/>
                <a:ea typeface="Calibri" pitchFamily="34" charset="-122"/>
                <a:cs typeface="Calibri" pitchFamily="34" charset="-120"/>
              </a:rPr>
              <a:t>AI cost per student session ≈ ₹0.13</a:t>
            </a:r>
            <a:pPr indent="0" marL="0">
              <a:buNone/>
            </a:pPr>
            <a:r>
              <a:rPr lang="en-US" sz="1100" dirty="0">
                <a:solidFill>
                  <a:srgbClr val="1F2937"/>
                </a:solidFill>
                <a:latin typeface="Calibri" pitchFamily="34" charset="0"/>
                <a:ea typeface="Calibri" pitchFamily="34" charset="-122"/>
                <a:cs typeface="Calibri" pitchFamily="34" charset="-120"/>
              </a:rPr>
              <a:t> (illustrative calculation)</a:t>
            </a:r>
            <a:endParaRPr lang="en-US" sz="1100" dirty="0"/>
          </a:p>
        </p:txBody>
      </p:sp>
      <p:sp>
        <p:nvSpPr>
          <p:cNvPr id="58" name="Text 49"/>
          <p:cNvSpPr txBox="1"/>
          <p:nvPr/>
        </p:nvSpPr>
        <p:spPr>
          <a:xfrm>
            <a:off x="548640" y="5788152"/>
            <a:ext cx="11094415"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Pilot targets are goals, not results. Pilot: 2 tribal districts, ~50 schools/ITIs, via an NGO partner.</a:t>
            </a:r>
            <a:endParaRPr lang="en-US" sz="1000" dirty="0"/>
          </a:p>
        </p:txBody>
      </p:sp>
      <p:sp>
        <p:nvSpPr>
          <p:cNvPr id="59" name="Text 50"/>
          <p:cNvSpPr txBox="1"/>
          <p:nvPr/>
        </p:nvSpPr>
        <p:spPr>
          <a:xfrm>
            <a:off x="548640" y="6199632"/>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ASER 2023; NITI Aayog ITI study (2023); NISE Suryamitra data; India Employment Report 2024; OpenAI published pricing.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FFFF00"/>
          </a:solidFill>
          <a:ln w="12700">
            <a:solidFill>
              <a:srgbClr val="FFFF00"/>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Unique Value Proposition</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Write a clear, compelling message stating why your product is different and worth paying attention to.</a:t>
            </a:r>
            <a:endParaRPr lang="en-US" sz="1200" dirty="0"/>
          </a:p>
        </p:txBody>
      </p:sp>
      <p:sp>
        <p:nvSpPr>
          <p:cNvPr id="8" name="Text 6"/>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9" name="Text 7"/>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5/9</a:t>
            </a:r>
            <a:endParaRPr lang="en-US" sz="1000" dirty="0"/>
          </a:p>
        </p:txBody>
      </p:sp>
      <p:sp>
        <p:nvSpPr>
          <p:cNvPr id="11" name="uvp-band"/>
          <p:cNvSpPr/>
          <p:nvPr/>
        </p:nvSpPr>
        <p:spPr>
          <a:xfrm>
            <a:off x="548640" y="1371600"/>
            <a:ext cx="11094415" cy="1600200"/>
          </a:xfrm>
          <a:prstGeom prst="rect">
            <a:avLst/>
          </a:prstGeom>
          <a:solidFill>
            <a:srgbClr val="FFFF00"/>
          </a:solidFill>
          <a:ln w="12700">
            <a:solidFill>
              <a:srgbClr val="FFFF00"/>
            </a:solidFill>
            <a:prstDash val="solid"/>
          </a:ln>
        </p:spPr>
      </p:sp>
      <p:sp>
        <p:nvSpPr>
          <p:cNvPr id="12" name="Text 9"/>
          <p:cNvSpPr txBox="1"/>
          <p:nvPr/>
        </p:nvSpPr>
        <p:spPr>
          <a:xfrm>
            <a:off x="914400" y="1371600"/>
            <a:ext cx="10362895" cy="1600200"/>
          </a:xfrm>
          <a:prstGeom prst="rect">
            <a:avLst/>
          </a:prstGeom>
          <a:noFill/>
          <a:ln/>
        </p:spPr>
        <p:txBody>
          <a:bodyPr wrap="square" lIns="0" tIns="0" rIns="0" bIns="0" rtlCol="0" anchor="ctr"/>
          <a:lstStyle/>
          <a:p>
            <a:pPr algn="ctr" indent="0" marL="0">
              <a:buNone/>
            </a:pPr>
            <a:r>
              <a:rPr lang="en-US" sz="3400" b="1" dirty="0">
                <a:solidFill>
                  <a:srgbClr val="000000"/>
                </a:solidFill>
                <a:latin typeface="Calibri" pitchFamily="34" charset="0"/>
                <a:ea typeface="Calibri" pitchFamily="34" charset="-122"/>
                <a:cs typeface="Calibri" pitchFamily="34" charset="-120"/>
              </a:rPr>
              <a:t>“Speak your day. See your skills, your path and your first income — and bring your family along.”</a:t>
            </a:r>
            <a:endParaRPr lang="en-US" sz="3400" dirty="0"/>
          </a:p>
        </p:txBody>
      </p:sp>
      <p:sp>
        <p:nvSpPr>
          <p:cNvPr id="13" name="Text 10"/>
          <p:cNvSpPr txBox="1"/>
          <p:nvPr/>
        </p:nvSpPr>
        <p:spPr>
          <a:xfrm>
            <a:off x="548640" y="3063240"/>
            <a:ext cx="11094415" cy="548640"/>
          </a:xfrm>
          <a:prstGeom prst="rect">
            <a:avLst/>
          </a:prstGeom>
          <a:noFill/>
          <a:ln/>
        </p:spPr>
        <p:txBody>
          <a:bodyPr wrap="square" lIns="0" tIns="0" rIns="0" bIns="0" rtlCol="0" anchor="ctr"/>
          <a:lstStyle/>
          <a:p>
            <a:pPr algn="ctr" indent="0" marL="0">
              <a:buNone/>
            </a:pPr>
            <a:r>
              <a:rPr lang="en-US" sz="2200" b="1" dirty="0">
                <a:solidFill>
                  <a:srgbClr val="1F2937"/>
                </a:solidFill>
                <a:latin typeface="Nirmala UI" pitchFamily="34" charset="0"/>
                <a:ea typeface="Nirmala UI" pitchFamily="34" charset="-122"/>
                <a:cs typeface="Nirmala UI" pitchFamily="34" charset="-120"/>
              </a:rPr>
              <a:t>“अपना दिन बोलो — अपना हुनर, अपना रास्ता और अपनी पहली कमाई देखो।”</a:t>
            </a:r>
            <a:endParaRPr lang="en-US" sz="2200" dirty="0"/>
          </a:p>
        </p:txBody>
      </p:sp>
      <p:sp>
        <p:nvSpPr>
          <p:cNvPr id="14" name="card"/>
          <p:cNvSpPr/>
          <p:nvPr/>
        </p:nvSpPr>
        <p:spPr>
          <a:xfrm>
            <a:off x="548640" y="3794760"/>
            <a:ext cx="3515258" cy="1828800"/>
          </a:xfrm>
          <a:prstGeom prst="roundRect">
            <a:avLst>
              <a:gd name="adj" fmla="val 4000"/>
            </a:avLst>
          </a:prstGeom>
          <a:solidFill>
            <a:srgbClr val="F8FAFC"/>
          </a:solidFill>
          <a:ln w="9525">
            <a:solidFill>
              <a:srgbClr val="E2E8F0"/>
            </a:solidFill>
            <a:prstDash val="solid"/>
          </a:ln>
        </p:spPr>
      </p:sp>
      <p:sp>
        <p:nvSpPr>
          <p:cNvPr id="15" name="icon-circle"/>
          <p:cNvSpPr/>
          <p:nvPr/>
        </p:nvSpPr>
        <p:spPr>
          <a:xfrm>
            <a:off x="749808" y="3995928"/>
            <a:ext cx="502920" cy="502920"/>
          </a:xfrm>
          <a:prstGeom prst="ellipse">
            <a:avLst/>
          </a:prstGeom>
          <a:solidFill>
            <a:srgbClr val="1E3A8A"/>
          </a:solidFill>
          <a:ln w="12700">
            <a:solidFill>
              <a:srgbClr val="1E3A8A"/>
            </a:solidFill>
            <a:prstDash val="solid"/>
          </a:ln>
        </p:spPr>
      </p:sp>
      <p:pic>
        <p:nvPicPr>
          <p:cNvPr id="16" name="icon" descr="preencoded.png">    </p:cNvPr>
          <p:cNvPicPr>
            <a:picLocks noChangeAspect="1"/>
          </p:cNvPicPr>
          <p:nvPr/>
        </p:nvPicPr>
        <p:blipFill>
          <a:blip r:embed="rId1"/>
          <a:stretch>
            <a:fillRect/>
          </a:stretch>
        </p:blipFill>
        <p:spPr>
          <a:xfrm>
            <a:off x="870509" y="4116629"/>
            <a:ext cx="261518" cy="261518"/>
          </a:xfrm>
          <a:prstGeom prst="rect">
            <a:avLst/>
          </a:prstGeom>
        </p:spPr>
      </p:pic>
      <p:sp>
        <p:nvSpPr>
          <p:cNvPr id="17" name="Text 13"/>
          <p:cNvSpPr txBox="1"/>
          <p:nvPr/>
        </p:nvSpPr>
        <p:spPr>
          <a:xfrm>
            <a:off x="1389888" y="3995928"/>
            <a:ext cx="2509418" cy="5029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Listens, doesn’t test</a:t>
            </a:r>
            <a:endParaRPr lang="en-US" sz="1500" dirty="0"/>
          </a:p>
        </p:txBody>
      </p:sp>
      <p:sp>
        <p:nvSpPr>
          <p:cNvPr id="18" name="Text 14"/>
          <p:cNvSpPr txBox="1"/>
          <p:nvPr/>
        </p:nvSpPr>
        <p:spPr>
          <a:xfrm>
            <a:off x="749808" y="4636008"/>
            <a:ext cx="3112922"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Voice-first in 9 Indian languages, because 1 in 4 rural teens can’t fluently read a Class 2 text, while ~90% have a smartphone at home</a:t>
            </a:r>
            <a:endParaRPr lang="en-US" sz="1150" dirty="0"/>
          </a:p>
        </p:txBody>
      </p:sp>
      <p:sp>
        <p:nvSpPr>
          <p:cNvPr id="19" name="card"/>
          <p:cNvSpPr/>
          <p:nvPr/>
        </p:nvSpPr>
        <p:spPr>
          <a:xfrm>
            <a:off x="4338218" y="3794760"/>
            <a:ext cx="3515258" cy="1828800"/>
          </a:xfrm>
          <a:prstGeom prst="roundRect">
            <a:avLst>
              <a:gd name="adj" fmla="val 4000"/>
            </a:avLst>
          </a:prstGeom>
          <a:solidFill>
            <a:srgbClr val="F8FAFC"/>
          </a:solidFill>
          <a:ln w="9525">
            <a:solidFill>
              <a:srgbClr val="E2E8F0"/>
            </a:solidFill>
            <a:prstDash val="solid"/>
          </a:ln>
        </p:spPr>
      </p:sp>
      <p:sp>
        <p:nvSpPr>
          <p:cNvPr id="20" name="icon-circle"/>
          <p:cNvSpPr/>
          <p:nvPr/>
        </p:nvSpPr>
        <p:spPr>
          <a:xfrm>
            <a:off x="4539386" y="3995928"/>
            <a:ext cx="502920" cy="502920"/>
          </a:xfrm>
          <a:prstGeom prst="ellipse">
            <a:avLst/>
          </a:prstGeom>
          <a:solidFill>
            <a:srgbClr val="1E3A8A"/>
          </a:solidFill>
          <a:ln w="12700">
            <a:solidFill>
              <a:srgbClr val="1E3A8A"/>
            </a:solidFill>
            <a:prstDash val="solid"/>
          </a:ln>
        </p:spPr>
      </p:sp>
      <p:pic>
        <p:nvPicPr>
          <p:cNvPr id="21" name="icon" descr="preencoded.png">    </p:cNvPr>
          <p:cNvPicPr>
            <a:picLocks noChangeAspect="1"/>
          </p:cNvPicPr>
          <p:nvPr/>
        </p:nvPicPr>
        <p:blipFill>
          <a:blip r:embed="rId2"/>
          <a:stretch>
            <a:fillRect/>
          </a:stretch>
        </p:blipFill>
        <p:spPr>
          <a:xfrm>
            <a:off x="4660087" y="4116629"/>
            <a:ext cx="261518" cy="261518"/>
          </a:xfrm>
          <a:prstGeom prst="rect">
            <a:avLst/>
          </a:prstGeom>
        </p:spPr>
      </p:pic>
      <p:sp>
        <p:nvSpPr>
          <p:cNvPr id="22" name="Text 17"/>
          <p:cNvSpPr txBox="1"/>
          <p:nvPr/>
        </p:nvSpPr>
        <p:spPr>
          <a:xfrm>
            <a:off x="5179466" y="3995928"/>
            <a:ext cx="2509418" cy="5029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Widens and grounds</a:t>
            </a:r>
            <a:endParaRPr lang="en-US" sz="1500" dirty="0"/>
          </a:p>
        </p:txBody>
      </p:sp>
      <p:sp>
        <p:nvSpPr>
          <p:cNvPr id="23" name="Text 18"/>
          <p:cNvSpPr txBox="1"/>
          <p:nvPr/>
        </p:nvSpPr>
        <p:spPr>
          <a:xfrm>
            <a:off x="4539386" y="4636008"/>
            <a:ext cx="3112922"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Always shows vocational, non-STEM and surprise careers; every number comes from official sources (ITI, NAPS, PLFS), so the AI can’t invent jobs or salaries</a:t>
            </a:r>
            <a:endParaRPr lang="en-US" sz="1150" dirty="0"/>
          </a:p>
        </p:txBody>
      </p:sp>
      <p:sp>
        <p:nvSpPr>
          <p:cNvPr id="24" name="card"/>
          <p:cNvSpPr/>
          <p:nvPr/>
        </p:nvSpPr>
        <p:spPr>
          <a:xfrm>
            <a:off x="8127797" y="3794760"/>
            <a:ext cx="3515258" cy="1828800"/>
          </a:xfrm>
          <a:prstGeom prst="roundRect">
            <a:avLst>
              <a:gd name="adj" fmla="val 4000"/>
            </a:avLst>
          </a:prstGeom>
          <a:solidFill>
            <a:srgbClr val="F8FAFC"/>
          </a:solidFill>
          <a:ln w="9525">
            <a:solidFill>
              <a:srgbClr val="E2E8F0"/>
            </a:solidFill>
            <a:prstDash val="solid"/>
          </a:ln>
        </p:spPr>
      </p:sp>
      <p:sp>
        <p:nvSpPr>
          <p:cNvPr id="25" name="icon-circle"/>
          <p:cNvSpPr/>
          <p:nvPr/>
        </p:nvSpPr>
        <p:spPr>
          <a:xfrm>
            <a:off x="8328965" y="3995928"/>
            <a:ext cx="502920" cy="502920"/>
          </a:xfrm>
          <a:prstGeom prst="ellipse">
            <a:avLst/>
          </a:prstGeom>
          <a:solidFill>
            <a:srgbClr val="1E3A8A"/>
          </a:solidFill>
          <a:ln w="12700">
            <a:solidFill>
              <a:srgbClr val="1E3A8A"/>
            </a:solidFill>
            <a:prstDash val="solid"/>
          </a:ln>
        </p:spPr>
      </p:sp>
      <p:pic>
        <p:nvPicPr>
          <p:cNvPr id="26" name="icon" descr="preencoded.png">    </p:cNvPr>
          <p:cNvPicPr>
            <a:picLocks noChangeAspect="1"/>
          </p:cNvPicPr>
          <p:nvPr/>
        </p:nvPicPr>
        <p:blipFill>
          <a:blip r:embed="rId3"/>
          <a:stretch>
            <a:fillRect/>
          </a:stretch>
        </p:blipFill>
        <p:spPr>
          <a:xfrm>
            <a:off x="8449666" y="4116629"/>
            <a:ext cx="261518" cy="261518"/>
          </a:xfrm>
          <a:prstGeom prst="rect">
            <a:avLst/>
          </a:prstGeom>
        </p:spPr>
      </p:pic>
      <p:sp>
        <p:nvSpPr>
          <p:cNvPr id="27" name="Text 21"/>
          <p:cNvSpPr txBox="1"/>
          <p:nvPr/>
        </p:nvSpPr>
        <p:spPr>
          <a:xfrm>
            <a:off x="8969045" y="3995928"/>
            <a:ext cx="2509418" cy="5029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Moves the real decision-maker</a:t>
            </a:r>
            <a:endParaRPr lang="en-US" sz="1500" dirty="0"/>
          </a:p>
        </p:txBody>
      </p:sp>
      <p:sp>
        <p:nvSpPr>
          <p:cNvPr id="28" name="Text 22"/>
          <p:cNvSpPr txBox="1"/>
          <p:nvPr/>
        </p:nvSpPr>
        <p:spPr>
          <a:xfrm>
            <a:off x="8328965" y="4636008"/>
            <a:ext cx="3112922" cy="91440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Speaks to parents on WhatsApp, the barrier randomised trials identify behind low vocational enrolment</a:t>
            </a:r>
            <a:endParaRPr lang="en-US" sz="1150" dirty="0"/>
          </a:p>
        </p:txBody>
      </p:sp>
      <p:sp>
        <p:nvSpPr>
          <p:cNvPr id="29" name="Text 23"/>
          <p:cNvSpPr txBox="1"/>
          <p:nvPr/>
        </p:nvSpPr>
        <p:spPr>
          <a:xfrm>
            <a:off x="548640" y="5760720"/>
            <a:ext cx="11094415" cy="320040"/>
          </a:xfrm>
          <a:prstGeom prst="rect">
            <a:avLst/>
          </a:prstGeom>
          <a:noFill/>
          <a:ln/>
        </p:spPr>
        <p:txBody>
          <a:bodyPr wrap="square" lIns="0" tIns="0" rIns="0" bIns="0" rtlCol="0" anchor="ctr"/>
          <a:lstStyle/>
          <a:p>
            <a:pPr algn="ctr" indent="0" marL="0">
              <a:buNone/>
            </a:pPr>
            <a:r>
              <a:rPr lang="en-US" sz="1400" i="1" dirty="0">
                <a:solidFill>
                  <a:srgbClr val="1E3A8A"/>
                </a:solidFill>
                <a:latin typeface="Calibri" pitchFamily="34" charset="0"/>
                <a:ea typeface="Calibri" pitchFamily="34" charset="-122"/>
                <a:cs typeface="Calibri" pitchFamily="34" charset="-120"/>
              </a:rPr>
              <a:t>“AI understands and explains. Data and code decide.”</a:t>
            </a:r>
            <a:endParaRPr lang="en-US" sz="1400" dirty="0"/>
          </a:p>
        </p:txBody>
      </p:sp>
      <p:sp>
        <p:nvSpPr>
          <p:cNvPr id="30" name="Text 24"/>
          <p:cNvSpPr txBox="1"/>
          <p:nvPr/>
        </p:nvSpPr>
        <p:spPr>
          <a:xfrm>
            <a:off x="548640" y="6199632"/>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ASER 2023; Hayashi et al., Journal of Policy Analysis and Management (2025).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92D050"/>
          </a:solidFill>
          <a:ln w="12700">
            <a:solidFill>
              <a:srgbClr val="92D050"/>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High Level Concept</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List your X for Y analogy e.g., YouTube = Flickr for videos or GitHub = Facebook for software developers or Airbnb = eBay for spare bedrooms</a:t>
            </a:r>
            <a:endParaRPr lang="en-US" sz="1200" dirty="0"/>
          </a:p>
        </p:txBody>
      </p:sp>
      <p:sp>
        <p:nvSpPr>
          <p:cNvPr id="8" name="Text 6"/>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9" name="Text 7"/>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6/9</a:t>
            </a:r>
            <a:endParaRPr lang="en-US" sz="1000" dirty="0"/>
          </a:p>
        </p:txBody>
      </p:sp>
      <p:sp>
        <p:nvSpPr>
          <p:cNvPr id="11" name="map-bg"/>
          <p:cNvSpPr/>
          <p:nvPr/>
        </p:nvSpPr>
        <p:spPr>
          <a:xfrm>
            <a:off x="548640" y="1371600"/>
            <a:ext cx="5120640" cy="4663440"/>
          </a:xfrm>
          <a:prstGeom prst="roundRect">
            <a:avLst>
              <a:gd name="adj" fmla="val 1961"/>
            </a:avLst>
          </a:prstGeom>
          <a:solidFill>
            <a:srgbClr val="F0FDF4"/>
          </a:solidFill>
          <a:ln w="12700">
            <a:solidFill>
              <a:srgbClr val="BBF7D0"/>
            </a:solidFill>
            <a:prstDash val="solid"/>
          </a:ln>
        </p:spPr>
      </p:sp>
      <p:sp>
        <p:nvSpPr>
          <p:cNvPr id="12" name="map-node"/>
          <p:cNvSpPr/>
          <p:nvPr/>
        </p:nvSpPr>
        <p:spPr>
          <a:xfrm>
            <a:off x="777240" y="1645920"/>
            <a:ext cx="1508760" cy="566928"/>
          </a:xfrm>
          <a:prstGeom prst="roundRect">
            <a:avLst>
              <a:gd name="adj" fmla="val 16129"/>
            </a:avLst>
          </a:prstGeom>
          <a:solidFill>
            <a:srgbClr val="10B981"/>
          </a:solidFill>
          <a:ln w="12700">
            <a:solidFill>
              <a:srgbClr val="10B981"/>
            </a:solidFill>
            <a:prstDash val="solid"/>
          </a:ln>
        </p:spPr>
      </p:sp>
      <p:pic>
        <p:nvPicPr>
          <p:cNvPr id="13" name="map-icon" descr="preencoded.png">    </p:cNvPr>
          <p:cNvPicPr>
            <a:picLocks noChangeAspect="1"/>
          </p:cNvPicPr>
          <p:nvPr/>
        </p:nvPicPr>
        <p:blipFill>
          <a:blip r:embed="rId1"/>
          <a:stretch>
            <a:fillRect/>
          </a:stretch>
        </p:blipFill>
        <p:spPr>
          <a:xfrm>
            <a:off x="886968" y="1773936"/>
            <a:ext cx="310896" cy="310896"/>
          </a:xfrm>
          <a:prstGeom prst="rect">
            <a:avLst/>
          </a:prstGeom>
        </p:spPr>
      </p:pic>
      <p:sp>
        <p:nvSpPr>
          <p:cNvPr id="14" name="Text 10"/>
          <p:cNvSpPr txBox="1"/>
          <p:nvPr/>
        </p:nvSpPr>
        <p:spPr>
          <a:xfrm>
            <a:off x="1252728" y="1645920"/>
            <a:ext cx="978408" cy="56692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Solar Technician</a:t>
            </a:r>
            <a:endParaRPr lang="en-US" sz="1100" dirty="0"/>
          </a:p>
        </p:txBody>
      </p:sp>
      <p:sp>
        <p:nvSpPr>
          <p:cNvPr id="15" name="map-node"/>
          <p:cNvSpPr/>
          <p:nvPr/>
        </p:nvSpPr>
        <p:spPr>
          <a:xfrm>
            <a:off x="2377440" y="1645920"/>
            <a:ext cx="1508760" cy="566928"/>
          </a:xfrm>
          <a:prstGeom prst="roundRect">
            <a:avLst>
              <a:gd name="adj" fmla="val 16129"/>
            </a:avLst>
          </a:prstGeom>
          <a:solidFill>
            <a:srgbClr val="F59E0B"/>
          </a:solidFill>
          <a:ln w="12700">
            <a:solidFill>
              <a:srgbClr val="F59E0B"/>
            </a:solidFill>
            <a:prstDash val="solid"/>
          </a:ln>
        </p:spPr>
      </p:sp>
      <p:pic>
        <p:nvPicPr>
          <p:cNvPr id="16" name="map-icon" descr="preencoded.png">    </p:cNvPr>
          <p:cNvPicPr>
            <a:picLocks noChangeAspect="1"/>
          </p:cNvPicPr>
          <p:nvPr/>
        </p:nvPicPr>
        <p:blipFill>
          <a:blip r:embed="rId2"/>
          <a:stretch>
            <a:fillRect/>
          </a:stretch>
        </p:blipFill>
        <p:spPr>
          <a:xfrm>
            <a:off x="2487168" y="1773936"/>
            <a:ext cx="310896" cy="310896"/>
          </a:xfrm>
          <a:prstGeom prst="rect">
            <a:avLst/>
          </a:prstGeom>
        </p:spPr>
      </p:pic>
      <p:sp>
        <p:nvSpPr>
          <p:cNvPr id="17" name="Text 12"/>
          <p:cNvSpPr txBox="1"/>
          <p:nvPr/>
        </p:nvSpPr>
        <p:spPr>
          <a:xfrm>
            <a:off x="2852928" y="1645920"/>
            <a:ext cx="978408" cy="56692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Agri-Drone Pilot</a:t>
            </a:r>
            <a:endParaRPr lang="en-US" sz="1100" dirty="0"/>
          </a:p>
        </p:txBody>
      </p:sp>
      <p:sp>
        <p:nvSpPr>
          <p:cNvPr id="18" name="map-node"/>
          <p:cNvSpPr/>
          <p:nvPr/>
        </p:nvSpPr>
        <p:spPr>
          <a:xfrm>
            <a:off x="3977640" y="1645920"/>
            <a:ext cx="1463040" cy="566928"/>
          </a:xfrm>
          <a:prstGeom prst="roundRect">
            <a:avLst>
              <a:gd name="adj" fmla="val 16129"/>
            </a:avLst>
          </a:prstGeom>
          <a:solidFill>
            <a:srgbClr val="0D9488"/>
          </a:solidFill>
          <a:ln w="12700">
            <a:solidFill>
              <a:srgbClr val="0D9488"/>
            </a:solidFill>
            <a:prstDash val="solid"/>
          </a:ln>
        </p:spPr>
      </p:sp>
      <p:pic>
        <p:nvPicPr>
          <p:cNvPr id="19" name="map-icon" descr="preencoded.png">    </p:cNvPr>
          <p:cNvPicPr>
            <a:picLocks noChangeAspect="1"/>
          </p:cNvPicPr>
          <p:nvPr/>
        </p:nvPicPr>
        <p:blipFill>
          <a:blip r:embed="rId3"/>
          <a:stretch>
            <a:fillRect/>
          </a:stretch>
        </p:blipFill>
        <p:spPr>
          <a:xfrm>
            <a:off x="4087368" y="1773936"/>
            <a:ext cx="310896" cy="310896"/>
          </a:xfrm>
          <a:prstGeom prst="rect">
            <a:avLst/>
          </a:prstGeom>
        </p:spPr>
      </p:pic>
      <p:sp>
        <p:nvSpPr>
          <p:cNvPr id="20" name="Text 14"/>
          <p:cNvSpPr txBox="1"/>
          <p:nvPr/>
        </p:nvSpPr>
        <p:spPr>
          <a:xfrm>
            <a:off x="4453128" y="1645920"/>
            <a:ext cx="932688" cy="56692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Bank Mitra</a:t>
            </a:r>
            <a:endParaRPr lang="en-US" sz="1100" dirty="0"/>
          </a:p>
        </p:txBody>
      </p:sp>
      <p:sp>
        <p:nvSpPr>
          <p:cNvPr id="21" name="map-node"/>
          <p:cNvSpPr/>
          <p:nvPr/>
        </p:nvSpPr>
        <p:spPr>
          <a:xfrm>
            <a:off x="777240" y="3154680"/>
            <a:ext cx="1783080" cy="685800"/>
          </a:xfrm>
          <a:prstGeom prst="roundRect">
            <a:avLst>
              <a:gd name="adj" fmla="val 13333"/>
            </a:avLst>
          </a:prstGeom>
          <a:solidFill>
            <a:srgbClr val="D97706"/>
          </a:solidFill>
          <a:ln w="12700">
            <a:solidFill>
              <a:srgbClr val="D97706"/>
            </a:solidFill>
            <a:prstDash val="solid"/>
          </a:ln>
        </p:spPr>
      </p:sp>
      <p:pic>
        <p:nvPicPr>
          <p:cNvPr id="22" name="map-icon" descr="preencoded.png">    </p:cNvPr>
          <p:cNvPicPr>
            <a:picLocks noChangeAspect="1"/>
          </p:cNvPicPr>
          <p:nvPr/>
        </p:nvPicPr>
        <p:blipFill>
          <a:blip r:embed="rId4"/>
          <a:stretch>
            <a:fillRect/>
          </a:stretch>
        </p:blipFill>
        <p:spPr>
          <a:xfrm>
            <a:off x="886968" y="3342132"/>
            <a:ext cx="310896" cy="310896"/>
          </a:xfrm>
          <a:prstGeom prst="rect">
            <a:avLst/>
          </a:prstGeom>
        </p:spPr>
      </p:pic>
      <p:sp>
        <p:nvSpPr>
          <p:cNvPr id="23" name="Text 16"/>
          <p:cNvSpPr txBox="1"/>
          <p:nvPr/>
        </p:nvSpPr>
        <p:spPr>
          <a:xfrm>
            <a:off x="1252728" y="3154680"/>
            <a:ext cx="1252728" cy="6858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Apprenticeship</a:t>
            </a:r>
            <a:pPr indent="0" marL="0">
              <a:buNone/>
            </a:pPr>
            <a:endParaRPr lang="en-US" sz="1100" dirty="0"/>
          </a:p>
          <a:p>
            <a:pPr indent="0" marL="0">
              <a:buNone/>
            </a:pPr>
            <a:r>
              <a:rPr lang="en-US" sz="850" dirty="0">
                <a:solidFill>
                  <a:srgbClr val="FFFFFF"/>
                </a:solidFill>
                <a:latin typeface="Calibri" pitchFamily="34" charset="0"/>
                <a:ea typeface="Calibri" pitchFamily="34" charset="-122"/>
                <a:cs typeface="Calibri" pitchFamily="34" charset="-120"/>
              </a:rPr>
              <a:t>min ₹9,600/month</a:t>
            </a:r>
            <a:endParaRPr lang="en-US" sz="1100" dirty="0"/>
          </a:p>
        </p:txBody>
      </p:sp>
      <p:sp>
        <p:nvSpPr>
          <p:cNvPr id="24" name="map-node"/>
          <p:cNvSpPr/>
          <p:nvPr/>
        </p:nvSpPr>
        <p:spPr>
          <a:xfrm>
            <a:off x="1645920" y="4983480"/>
            <a:ext cx="2926080" cy="777240"/>
          </a:xfrm>
          <a:prstGeom prst="roundRect">
            <a:avLst>
              <a:gd name="adj" fmla="val 11765"/>
            </a:avLst>
          </a:prstGeom>
          <a:solidFill>
            <a:srgbClr val="1E3A8A"/>
          </a:solidFill>
          <a:ln w="12700">
            <a:solidFill>
              <a:srgbClr val="1E3A8A"/>
            </a:solidFill>
            <a:prstDash val="solid"/>
          </a:ln>
        </p:spPr>
      </p:sp>
      <p:pic>
        <p:nvPicPr>
          <p:cNvPr id="25" name="map-icon" descr="preencoded.png">    </p:cNvPr>
          <p:cNvPicPr>
            <a:picLocks noChangeAspect="1"/>
          </p:cNvPicPr>
          <p:nvPr/>
        </p:nvPicPr>
        <p:blipFill>
          <a:blip r:embed="rId5"/>
          <a:stretch>
            <a:fillRect/>
          </a:stretch>
        </p:blipFill>
        <p:spPr>
          <a:xfrm>
            <a:off x="1755648" y="5216652"/>
            <a:ext cx="310896" cy="310896"/>
          </a:xfrm>
          <a:prstGeom prst="rect">
            <a:avLst/>
          </a:prstGeom>
        </p:spPr>
      </p:pic>
      <p:sp>
        <p:nvSpPr>
          <p:cNvPr id="26" name="Text 18"/>
          <p:cNvSpPr txBox="1"/>
          <p:nvPr/>
        </p:nvSpPr>
        <p:spPr>
          <a:xfrm>
            <a:off x="2121408" y="4983480"/>
            <a:ext cx="2395728" cy="7772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You are here</a:t>
            </a:r>
            <a:pPr indent="0" marL="0">
              <a:buNone/>
            </a:pPr>
            <a:endParaRPr lang="en-US" sz="1100" dirty="0"/>
          </a:p>
          <a:p>
            <a:pPr indent="0" marL="0">
              <a:buNone/>
            </a:pPr>
            <a:r>
              <a:rPr lang="en-US" sz="850" dirty="0">
                <a:solidFill>
                  <a:srgbClr val="FFFFFF"/>
                </a:solidFill>
                <a:latin typeface="Calibri" pitchFamily="34" charset="0"/>
                <a:ea typeface="Calibri" pitchFamily="34" charset="-122"/>
                <a:cs typeface="Calibri" pitchFamily="34" charset="-120"/>
              </a:rPr>
              <a:t>pump repair · shop accounts · farming</a:t>
            </a:r>
            <a:endParaRPr lang="en-US" sz="1100" dirty="0"/>
          </a:p>
        </p:txBody>
      </p:sp>
      <p:sp>
        <p:nvSpPr>
          <p:cNvPr id="27" name="connector"/>
          <p:cNvSpPr/>
          <p:nvPr/>
        </p:nvSpPr>
        <p:spPr>
          <a:xfrm flipH="1" flipV="1">
            <a:off x="1645920" y="3840480"/>
            <a:ext cx="365760" cy="1143000"/>
          </a:xfrm>
          <a:prstGeom prst="line">
            <a:avLst/>
          </a:prstGeom>
          <a:noFill/>
          <a:ln w="25400">
            <a:solidFill>
              <a:srgbClr val="1F2937"/>
            </a:solidFill>
            <a:prstDash val="solid"/>
            <a:tailEnd type="triangle"/>
          </a:ln>
        </p:spPr>
      </p:sp>
      <p:sp>
        <p:nvSpPr>
          <p:cNvPr id="28" name="Text 20"/>
          <p:cNvSpPr txBox="1"/>
          <p:nvPr/>
        </p:nvSpPr>
        <p:spPr>
          <a:xfrm>
            <a:off x="685800" y="4297680"/>
            <a:ext cx="1234440" cy="411480"/>
          </a:xfrm>
          <a:prstGeom prst="rect">
            <a:avLst/>
          </a:prstGeom>
          <a:noFill/>
          <a:ln/>
        </p:spPr>
        <p:txBody>
          <a:bodyPr wrap="square" lIns="0" tIns="0" rIns="0" bIns="0" rtlCol="0" anchor="t"/>
          <a:lstStyle/>
          <a:p>
            <a:pPr indent="0" marL="0">
              <a:buNone/>
            </a:pPr>
            <a:r>
              <a:rPr lang="en-US" sz="900" b="1" dirty="0">
                <a:solidFill>
                  <a:srgbClr val="1F2937"/>
                </a:solidFill>
                <a:latin typeface="Calibri" pitchFamily="34" charset="0"/>
                <a:ea typeface="Calibri" pitchFamily="34" charset="-122"/>
                <a:cs typeface="Calibri" pitchFamily="34" charset="-120"/>
              </a:rPr>
              <a:t>ITI Electrician · 2 yrs</a:t>
            </a:r>
            <a:endParaRPr lang="en-US" sz="900" dirty="0"/>
          </a:p>
        </p:txBody>
      </p:sp>
      <p:sp>
        <p:nvSpPr>
          <p:cNvPr id="29" name="connector"/>
          <p:cNvSpPr/>
          <p:nvPr/>
        </p:nvSpPr>
        <p:spPr>
          <a:xfrm flipV="1">
            <a:off x="1463040" y="2212848"/>
            <a:ext cx="914" cy="941832"/>
          </a:xfrm>
          <a:prstGeom prst="line">
            <a:avLst/>
          </a:prstGeom>
          <a:noFill/>
          <a:ln w="25400">
            <a:solidFill>
              <a:srgbClr val="10B981"/>
            </a:solidFill>
            <a:prstDash val="solid"/>
            <a:tailEnd type="triangle"/>
          </a:ln>
        </p:spPr>
      </p:sp>
      <p:sp>
        <p:nvSpPr>
          <p:cNvPr id="30" name="Text 22"/>
          <p:cNvSpPr txBox="1"/>
          <p:nvPr/>
        </p:nvSpPr>
        <p:spPr>
          <a:xfrm>
            <a:off x="1554480" y="2468880"/>
            <a:ext cx="1234440" cy="411480"/>
          </a:xfrm>
          <a:prstGeom prst="rect">
            <a:avLst/>
          </a:prstGeom>
          <a:noFill/>
          <a:ln/>
        </p:spPr>
        <p:txBody>
          <a:bodyPr wrap="square" lIns="0" tIns="0" rIns="0" bIns="0" rtlCol="0" anchor="t"/>
          <a:lstStyle/>
          <a:p>
            <a:pPr indent="0" marL="0">
              <a:buNone/>
            </a:pPr>
            <a:r>
              <a:rPr lang="en-US" sz="900" b="1" dirty="0">
                <a:solidFill>
                  <a:srgbClr val="15803D"/>
                </a:solidFill>
                <a:latin typeface="Calibri" pitchFamily="34" charset="0"/>
                <a:ea typeface="Calibri" pitchFamily="34" charset="-122"/>
                <a:cs typeface="Calibri" pitchFamily="34" charset="-120"/>
              </a:rPr>
              <a:t>free Suryamitra · 600 hrs</a:t>
            </a:r>
            <a:endParaRPr lang="en-US" sz="900" dirty="0"/>
          </a:p>
        </p:txBody>
      </p:sp>
      <p:sp>
        <p:nvSpPr>
          <p:cNvPr id="31" name="connector"/>
          <p:cNvSpPr/>
          <p:nvPr/>
        </p:nvSpPr>
        <p:spPr>
          <a:xfrm flipV="1">
            <a:off x="3108960" y="2212848"/>
            <a:ext cx="914" cy="2770632"/>
          </a:xfrm>
          <a:prstGeom prst="line">
            <a:avLst/>
          </a:prstGeom>
          <a:noFill/>
          <a:ln w="25400">
            <a:solidFill>
              <a:srgbClr val="F59E0B"/>
            </a:solidFill>
            <a:prstDash val="solid"/>
            <a:tailEnd type="triangle"/>
          </a:ln>
        </p:spPr>
      </p:sp>
      <p:sp>
        <p:nvSpPr>
          <p:cNvPr id="32" name="Text 24"/>
          <p:cNvSpPr txBox="1"/>
          <p:nvPr/>
        </p:nvSpPr>
        <p:spPr>
          <a:xfrm>
            <a:off x="3182112" y="3474720"/>
            <a:ext cx="1051560" cy="566928"/>
          </a:xfrm>
          <a:prstGeom prst="rect">
            <a:avLst/>
          </a:prstGeom>
          <a:noFill/>
          <a:ln/>
        </p:spPr>
        <p:txBody>
          <a:bodyPr wrap="square" lIns="0" tIns="0" rIns="0" bIns="0" rtlCol="0" anchor="t"/>
          <a:lstStyle/>
          <a:p>
            <a:pPr indent="0" marL="0">
              <a:buNone/>
            </a:pPr>
            <a:r>
              <a:rPr lang="en-US" sz="900" b="1" dirty="0">
                <a:solidFill>
                  <a:srgbClr val="B45309"/>
                </a:solidFill>
                <a:latin typeface="Calibri" pitchFamily="34" charset="0"/>
                <a:ea typeface="Calibri" pitchFamily="34" charset="-122"/>
                <a:cs typeface="Calibri" pitchFamily="34" charset="-120"/>
              </a:rPr>
              <a:t>Class 10 + age 18 · DGCA course</a:t>
            </a:r>
            <a:endParaRPr lang="en-US" sz="900" dirty="0"/>
          </a:p>
        </p:txBody>
      </p:sp>
      <p:sp>
        <p:nvSpPr>
          <p:cNvPr id="33" name="connector"/>
          <p:cNvSpPr/>
          <p:nvPr/>
        </p:nvSpPr>
        <p:spPr>
          <a:xfrm flipV="1">
            <a:off x="4114800" y="2212848"/>
            <a:ext cx="594360" cy="2770632"/>
          </a:xfrm>
          <a:prstGeom prst="line">
            <a:avLst/>
          </a:prstGeom>
          <a:noFill/>
          <a:ln w="25400">
            <a:solidFill>
              <a:srgbClr val="0D9488"/>
            </a:solidFill>
            <a:prstDash val="solid"/>
            <a:tailEnd type="triangle"/>
          </a:ln>
        </p:spPr>
      </p:sp>
      <p:sp>
        <p:nvSpPr>
          <p:cNvPr id="34" name="Text 26"/>
          <p:cNvSpPr txBox="1"/>
          <p:nvPr/>
        </p:nvSpPr>
        <p:spPr>
          <a:xfrm>
            <a:off x="4526280" y="3474720"/>
            <a:ext cx="1051560" cy="411480"/>
          </a:xfrm>
          <a:prstGeom prst="rect">
            <a:avLst/>
          </a:prstGeom>
          <a:noFill/>
          <a:ln/>
        </p:spPr>
        <p:txBody>
          <a:bodyPr wrap="square" lIns="0" tIns="0" rIns="0" bIns="0" rtlCol="0" anchor="t"/>
          <a:lstStyle/>
          <a:p>
            <a:pPr indent="0" marL="0">
              <a:buNone/>
            </a:pPr>
            <a:r>
              <a:rPr lang="en-US" sz="900" b="1" dirty="0">
                <a:solidFill>
                  <a:srgbClr val="0F766E"/>
                </a:solidFill>
                <a:latin typeface="Calibri" pitchFamily="34" charset="0"/>
                <a:ea typeface="Calibri" pitchFamily="34" charset="-122"/>
                <a:cs typeface="Calibri" pitchFamily="34" charset="-120"/>
              </a:rPr>
              <a:t>IIBF certificate</a:t>
            </a:r>
            <a:endParaRPr lang="en-US" sz="900" dirty="0"/>
          </a:p>
        </p:txBody>
      </p:sp>
      <p:sp>
        <p:nvSpPr>
          <p:cNvPr id="35" name="icon-circle"/>
          <p:cNvSpPr/>
          <p:nvPr/>
        </p:nvSpPr>
        <p:spPr>
          <a:xfrm>
            <a:off x="4800600" y="5074920"/>
            <a:ext cx="594360" cy="594360"/>
          </a:xfrm>
          <a:prstGeom prst="ellipse">
            <a:avLst/>
          </a:prstGeom>
          <a:solidFill>
            <a:srgbClr val="0D9488"/>
          </a:solidFill>
          <a:ln w="12700">
            <a:solidFill>
              <a:srgbClr val="0D9488"/>
            </a:solidFill>
            <a:prstDash val="solid"/>
          </a:ln>
        </p:spPr>
      </p:sp>
      <p:pic>
        <p:nvPicPr>
          <p:cNvPr id="36" name="icon" descr="preencoded.png">    </p:cNvPr>
          <p:cNvPicPr>
            <a:picLocks noChangeAspect="1"/>
          </p:cNvPicPr>
          <p:nvPr/>
        </p:nvPicPr>
        <p:blipFill>
          <a:blip r:embed="rId6"/>
          <a:stretch>
            <a:fillRect/>
          </a:stretch>
        </p:blipFill>
        <p:spPr>
          <a:xfrm>
            <a:off x="4943246" y="5217566"/>
            <a:ext cx="309067" cy="309067"/>
          </a:xfrm>
          <a:prstGeom prst="rect">
            <a:avLst/>
          </a:prstGeom>
        </p:spPr>
      </p:pic>
      <p:sp>
        <p:nvSpPr>
          <p:cNvPr id="37" name="Text 28"/>
          <p:cNvSpPr txBox="1"/>
          <p:nvPr/>
        </p:nvSpPr>
        <p:spPr>
          <a:xfrm>
            <a:off x="4526280" y="5687568"/>
            <a:ext cx="1143000" cy="228600"/>
          </a:xfrm>
          <a:prstGeom prst="rect">
            <a:avLst/>
          </a:prstGeom>
          <a:noFill/>
          <a:ln/>
        </p:spPr>
        <p:txBody>
          <a:bodyPr wrap="square" lIns="0" tIns="0" rIns="0" bIns="0" rtlCol="0" anchor="t"/>
          <a:lstStyle/>
          <a:p>
            <a:pPr algn="ctr" indent="0" marL="0">
              <a:buNone/>
            </a:pPr>
            <a:r>
              <a:rPr lang="en-US" sz="800" i="1" dirty="0">
                <a:solidFill>
                  <a:srgbClr val="64748B"/>
                </a:solidFill>
                <a:latin typeface="Calibri" pitchFamily="34" charset="0"/>
                <a:ea typeface="Calibri" pitchFamily="34" charset="-122"/>
                <a:cs typeface="Calibri" pitchFamily="34" charset="-120"/>
              </a:rPr>
              <a:t>voice navigation</a:t>
            </a:r>
            <a:endParaRPr lang="en-US" sz="800" dirty="0"/>
          </a:p>
        </p:txBody>
      </p:sp>
      <p:sp>
        <p:nvSpPr>
          <p:cNvPr id="38" name="Text 29"/>
          <p:cNvSpPr txBox="1"/>
          <p:nvPr/>
        </p:nvSpPr>
        <p:spPr>
          <a:xfrm>
            <a:off x="5989320" y="1325880"/>
            <a:ext cx="5653735" cy="914400"/>
          </a:xfrm>
          <a:prstGeom prst="rect">
            <a:avLst/>
          </a:prstGeom>
          <a:noFill/>
          <a:ln/>
        </p:spPr>
        <p:txBody>
          <a:bodyPr wrap="square" lIns="0" tIns="0" rIns="0" bIns="0" rtlCol="0" anchor="ctr"/>
          <a:lstStyle/>
          <a:p>
            <a:pPr indent="0" marL="0">
              <a:buNone/>
            </a:pPr>
            <a:r>
              <a:rPr lang="en-US" sz="2600" b="1" dirty="0">
                <a:solidFill>
                  <a:srgbClr val="1F2937"/>
                </a:solidFill>
                <a:latin typeface="Calibri" pitchFamily="34" charset="0"/>
                <a:ea typeface="Calibri" pitchFamily="34" charset="-122"/>
                <a:cs typeface="Calibri" pitchFamily="34" charset="-120"/>
              </a:rPr>
              <a:t>Yukti = </a:t>
            </a:r>
            <a:pPr indent="0" marL="0">
              <a:buNone/>
            </a:pPr>
            <a:r>
              <a:rPr lang="en-US" sz="2600" b="1" dirty="0">
                <a:solidFill>
                  <a:srgbClr val="1E3A8A"/>
                </a:solidFill>
                <a:latin typeface="Calibri" pitchFamily="34" charset="0"/>
                <a:ea typeface="Calibri" pitchFamily="34" charset="-122"/>
                <a:cs typeface="Calibri" pitchFamily="34" charset="-120"/>
              </a:rPr>
              <a:t>Google Maps for rural careers</a:t>
            </a:r>
            <a:endParaRPr lang="en-US" sz="2600" dirty="0"/>
          </a:p>
        </p:txBody>
      </p:sp>
      <p:sp>
        <p:nvSpPr>
          <p:cNvPr id="39" name="Text 30"/>
          <p:cNvSpPr txBox="1"/>
          <p:nvPr/>
        </p:nvSpPr>
        <p:spPr>
          <a:xfrm>
            <a:off x="5989320" y="2331720"/>
            <a:ext cx="5653735" cy="64008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Starts from where you are (your skills) · shows every route (career ladders) · tells you the travel time (months to first income) and the toll (cost and stipend) · finds the stops on the way (opportunities).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89320" y="3063240"/>
          <a:ext cx="5653735" cy="914400"/>
        </p:xfrm>
        <a:graphic>
          <a:graphicData uri="http://schemas.openxmlformats.org/drawingml/2006/table">
            <a:tbl>
              <a:tblPr/>
              <a:tblGrid>
                <a:gridCol w="2194560"/>
                <a:gridCol w="3459175"/>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Google Maps</a:t>
                      </a:r>
                      <a:endParaRPr lang="en-US" sz="11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803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Yukti</a:t>
                      </a:r>
                      <a:endParaRPr lang="en-US" sz="110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5803D"/>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 Your current location</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Skill Passport: the skills you already have</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 Alternative routes</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Career Ladders: vocational, non-STEM, 🎲 surprise</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 Travel time</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Months to first income</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 Toll / fare</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Cost &amp; stipend (e.g. apprentice minimum ₹9,600/month)</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 Voice navigation</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Voice in 9 Indian languages</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4"/>
                    </a:solidFill>
                  </a:tcPr>
                </a:tc>
              </a:tr>
              <a:tr h="329184">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 Places along the way</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b="1" dirty="0">
                          <a:solidFill>
                            <a:srgbClr val="1F2937"/>
                          </a:solidFill>
                          <a:latin typeface="Calibri" pitchFamily="34" charset="0"/>
                          <a:ea typeface="Calibri" pitchFamily="34" charset="-122"/>
                          <a:cs typeface="Calibri" pitchFamily="34" charset="-120"/>
                        </a:rPr>
                        <a:t>ITI seats, apprenticeships, schemes, mentors</a:t>
                      </a:r>
                      <a:endParaRPr lang="en-US" sz="1050" dirty="0">
                        <a:latin typeface="Calibri" charset="0"/>
                        <a:ea typeface="Calibri" charset="0"/>
                        <a:cs typeface="Calibri"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41" name="Text 31"/>
          <p:cNvSpPr txBox="1"/>
          <p:nvPr/>
        </p:nvSpPr>
        <p:spPr>
          <a:xfrm>
            <a:off x="5989320" y="5486400"/>
            <a:ext cx="5653735" cy="548640"/>
          </a:xfrm>
          <a:prstGeom prst="rect">
            <a:avLst/>
          </a:prstGeom>
          <a:noFill/>
          <a:ln/>
        </p:spPr>
        <p:txBody>
          <a:bodyPr wrap="square" lIns="0" tIns="0" rIns="0" bIns="0" rtlCol="0" anchor="t"/>
          <a:lstStyle/>
          <a:p>
            <a:pPr indent="0" marL="0">
              <a:buNone/>
            </a:pPr>
            <a:r>
              <a:rPr lang="en-US" sz="1050" i="1" dirty="0">
                <a:solidFill>
                  <a:srgbClr val="64748B"/>
                </a:solidFill>
                <a:latin typeface="Calibri" pitchFamily="34" charset="0"/>
                <a:ea typeface="Calibri" pitchFamily="34" charset="-122"/>
                <a:cs typeface="Calibri" pitchFamily="34" charset="-120"/>
              </a:rPr>
              <a:t>“LinkedIn + a career counsellor for village students — by voice”  ·  “Duolingo-simple, Naukri-useful, in your mother tongue”</a:t>
            </a:r>
            <a:endParaRPr lang="en-US" sz="1050" dirty="0"/>
          </a:p>
        </p:txBody>
      </p:sp>
      <p:sp>
        <p:nvSpPr>
          <p:cNvPr id="42" name="Text 32"/>
          <p:cNvSpPr txBox="1"/>
          <p:nvPr/>
        </p:nvSpPr>
        <p:spPr>
          <a:xfrm>
            <a:off x="548640" y="6199632"/>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Apprenticeship (Amendment) Rules 2025 (stipend); NISE (Suryamitra); illustrative routes.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ED7D31"/>
          </a:solidFill>
          <a:ln w="12700">
            <a:solidFill>
              <a:srgbClr val="ED7D31"/>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Unfair Advantage</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Something that cannot easily be bought or copied.</a:t>
            </a:r>
            <a:endParaRPr lang="en-US" sz="1200" dirty="0"/>
          </a:p>
        </p:txBody>
      </p:sp>
      <p:sp>
        <p:nvSpPr>
          <p:cNvPr id="8" name="Text 6"/>
          <p:cNvSpPr txBox="1"/>
          <p:nvPr/>
        </p:nvSpPr>
        <p:spPr>
          <a:xfrm>
            <a:off x="548640" y="1207008"/>
            <a:ext cx="11094415" cy="621792"/>
          </a:xfrm>
          <a:prstGeom prst="rect">
            <a:avLst/>
          </a:prstGeom>
          <a:noFill/>
          <a:ln/>
        </p:spPr>
        <p:txBody>
          <a:bodyPr wrap="square" lIns="0" tIns="0" rIns="0" bIns="0" rtlCol="0" anchor="t"/>
          <a:lstStyle/>
          <a:p>
            <a:pPr indent="0" marL="0">
              <a:buNone/>
            </a:pPr>
            <a:r>
              <a:rPr lang="en-US" sz="1800" b="1" dirty="0">
                <a:solidFill>
                  <a:srgbClr val="1E3A8A"/>
                </a:solidFill>
                <a:latin typeface="Calibri" pitchFamily="34" charset="0"/>
                <a:ea typeface="Calibri" pitchFamily="34" charset="-122"/>
                <a:cs typeface="Calibri" pitchFamily="34" charset="-120"/>
              </a:rPr>
              <a:t>A data-and-trust flywheel: every story, teacher and family makes the next match better, and that can’t be bought.</a:t>
            </a:r>
            <a:endParaRPr lang="en-US" sz="1800" dirty="0"/>
          </a:p>
        </p:txBody>
      </p:sp>
      <p:sp>
        <p:nvSpPr>
          <p:cNvPr id="9" name="Text 7"/>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10" name="Text 8"/>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7/9</a:t>
            </a:r>
            <a:endParaRPr lang="en-US" sz="1000" dirty="0"/>
          </a:p>
        </p:txBody>
      </p:sp>
      <p:sp>
        <p:nvSpPr>
          <p:cNvPr id="12" name="card"/>
          <p:cNvSpPr/>
          <p:nvPr/>
        </p:nvSpPr>
        <p:spPr>
          <a:xfrm>
            <a:off x="548640" y="1874520"/>
            <a:ext cx="2743200" cy="1938528"/>
          </a:xfrm>
          <a:prstGeom prst="roundRect">
            <a:avLst>
              <a:gd name="adj" fmla="val 3774"/>
            </a:avLst>
          </a:prstGeom>
          <a:solidFill>
            <a:srgbClr val="FFF7ED"/>
          </a:solidFill>
          <a:ln w="9525">
            <a:solidFill>
              <a:srgbClr val="FED7AA"/>
            </a:solidFill>
            <a:prstDash val="solid"/>
          </a:ln>
        </p:spPr>
      </p:sp>
      <p:sp>
        <p:nvSpPr>
          <p:cNvPr id="13" name="icon-circle"/>
          <p:cNvSpPr/>
          <p:nvPr/>
        </p:nvSpPr>
        <p:spPr>
          <a:xfrm>
            <a:off x="685800" y="2011680"/>
            <a:ext cx="411480" cy="411480"/>
          </a:xfrm>
          <a:prstGeom prst="ellipse">
            <a:avLst/>
          </a:prstGeom>
          <a:solidFill>
            <a:srgbClr val="ED7D31"/>
          </a:solidFill>
          <a:ln w="12700">
            <a:solidFill>
              <a:srgbClr val="ED7D31"/>
            </a:solidFill>
            <a:prstDash val="solid"/>
          </a:ln>
        </p:spPr>
      </p:sp>
      <p:pic>
        <p:nvPicPr>
          <p:cNvPr id="14" name="icon" descr="preencoded.png">    </p:cNvPr>
          <p:cNvPicPr>
            <a:picLocks noChangeAspect="1"/>
          </p:cNvPicPr>
          <p:nvPr/>
        </p:nvPicPr>
        <p:blipFill>
          <a:blip r:embed="rId1"/>
          <a:stretch>
            <a:fillRect/>
          </a:stretch>
        </p:blipFill>
        <p:spPr>
          <a:xfrm>
            <a:off x="784555" y="2110435"/>
            <a:ext cx="213970" cy="213970"/>
          </a:xfrm>
          <a:prstGeom prst="rect">
            <a:avLst/>
          </a:prstGeom>
        </p:spPr>
      </p:pic>
      <p:sp>
        <p:nvSpPr>
          <p:cNvPr id="15" name="Text 11"/>
          <p:cNvSpPr txBox="1"/>
          <p:nvPr/>
        </p:nvSpPr>
        <p:spPr>
          <a:xfrm>
            <a:off x="1188720" y="1984248"/>
            <a:ext cx="2011680" cy="475488"/>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Evidence-backed skills data</a:t>
            </a:r>
            <a:endParaRPr lang="en-US" sz="1150" dirty="0"/>
          </a:p>
        </p:txBody>
      </p:sp>
      <p:sp>
        <p:nvSpPr>
          <p:cNvPr id="16" name="Text 12"/>
          <p:cNvSpPr txBox="1"/>
          <p:nvPr/>
        </p:nvSpPr>
        <p:spPr>
          <a:xfrm>
            <a:off x="685800" y="2532888"/>
            <a:ext cx="2468880" cy="120700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Only </a:t>
            </a:r>
            <a:pPr indent="0" marL="0">
              <a:buNone/>
            </a:pPr>
            <a:r>
              <a:rPr lang="en-US" sz="1100" b="1" dirty="0">
                <a:solidFill>
                  <a:srgbClr val="C2410C"/>
                </a:solidFill>
                <a:latin typeface="Calibri" pitchFamily="34" charset="0"/>
                <a:ea typeface="Calibri" pitchFamily="34" charset="-122"/>
                <a:cs typeface="Calibri" pitchFamily="34" charset="-120"/>
              </a:rPr>
              <a:t>4.2%</a:t>
            </a:r>
            <a:pPr indent="0" marL="0">
              <a:buNone/>
            </a:pPr>
            <a:r>
              <a:rPr lang="en-US" sz="1100" dirty="0">
                <a:solidFill>
                  <a:srgbClr val="1F2937"/>
                </a:solidFill>
                <a:latin typeface="Calibri" pitchFamily="34" charset="0"/>
                <a:ea typeface="Calibri" pitchFamily="34" charset="-122"/>
                <a:cs typeface="Calibri" pitchFamily="34" charset="-120"/>
              </a:rPr>
              <a:t> of India’s workforce (15–59) has formal vocational training, so most skills are invisible on paper. Every Skill Passport links real village activities (in local languages) to skills and outcomes.</a:t>
            </a:r>
            <a:endParaRPr lang="en-US" sz="1100" dirty="0"/>
          </a:p>
        </p:txBody>
      </p:sp>
      <p:sp>
        <p:nvSpPr>
          <p:cNvPr id="17" name="card"/>
          <p:cNvSpPr/>
          <p:nvPr/>
        </p:nvSpPr>
        <p:spPr>
          <a:xfrm>
            <a:off x="3520440" y="1874520"/>
            <a:ext cx="2743200" cy="1938528"/>
          </a:xfrm>
          <a:prstGeom prst="roundRect">
            <a:avLst>
              <a:gd name="adj" fmla="val 3774"/>
            </a:avLst>
          </a:prstGeom>
          <a:solidFill>
            <a:srgbClr val="FFF7ED"/>
          </a:solidFill>
          <a:ln w="9525">
            <a:solidFill>
              <a:srgbClr val="FED7AA"/>
            </a:solidFill>
            <a:prstDash val="solid"/>
          </a:ln>
        </p:spPr>
      </p:sp>
      <p:sp>
        <p:nvSpPr>
          <p:cNvPr id="18" name="icon-circle"/>
          <p:cNvSpPr/>
          <p:nvPr/>
        </p:nvSpPr>
        <p:spPr>
          <a:xfrm>
            <a:off x="3657600" y="2011680"/>
            <a:ext cx="411480" cy="411480"/>
          </a:xfrm>
          <a:prstGeom prst="ellipse">
            <a:avLst/>
          </a:prstGeom>
          <a:solidFill>
            <a:srgbClr val="ED7D31"/>
          </a:solidFill>
          <a:ln w="12700">
            <a:solidFill>
              <a:srgbClr val="ED7D31"/>
            </a:solidFill>
            <a:prstDash val="solid"/>
          </a:ln>
        </p:spPr>
      </p:sp>
      <p:pic>
        <p:nvPicPr>
          <p:cNvPr id="19" name="icon" descr="preencoded.png">    </p:cNvPr>
          <p:cNvPicPr>
            <a:picLocks noChangeAspect="1"/>
          </p:cNvPicPr>
          <p:nvPr/>
        </p:nvPicPr>
        <p:blipFill>
          <a:blip r:embed="rId2"/>
          <a:stretch>
            <a:fillRect/>
          </a:stretch>
        </p:blipFill>
        <p:spPr>
          <a:xfrm>
            <a:off x="3756355" y="2110435"/>
            <a:ext cx="213970" cy="213970"/>
          </a:xfrm>
          <a:prstGeom prst="rect">
            <a:avLst/>
          </a:prstGeom>
        </p:spPr>
      </p:pic>
      <p:sp>
        <p:nvSpPr>
          <p:cNvPr id="20" name="Text 15"/>
          <p:cNvSpPr txBox="1"/>
          <p:nvPr/>
        </p:nvSpPr>
        <p:spPr>
          <a:xfrm>
            <a:off x="4160520" y="1984248"/>
            <a:ext cx="2011680" cy="475488"/>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Curated rural career-ladder graph</a:t>
            </a:r>
            <a:endParaRPr lang="en-US" sz="1150" dirty="0"/>
          </a:p>
        </p:txBody>
      </p:sp>
      <p:sp>
        <p:nvSpPr>
          <p:cNvPr id="21" name="Text 16"/>
          <p:cNvSpPr txBox="1"/>
          <p:nvPr/>
        </p:nvSpPr>
        <p:spPr>
          <a:xfrm>
            <a:off x="3657600" y="2532888"/>
            <a:ext cx="2468880" cy="120700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Careers, steps, stipends and exams tied to official sources (NCO/NSQF, ITI, NAPS, PMKVY), refined by real placements. Hard to rebuild without the outcome data.</a:t>
            </a:r>
            <a:endParaRPr lang="en-US" sz="1100" dirty="0"/>
          </a:p>
        </p:txBody>
      </p:sp>
      <p:sp>
        <p:nvSpPr>
          <p:cNvPr id="22" name="card"/>
          <p:cNvSpPr/>
          <p:nvPr/>
        </p:nvSpPr>
        <p:spPr>
          <a:xfrm>
            <a:off x="548640" y="3995928"/>
            <a:ext cx="2743200" cy="1938528"/>
          </a:xfrm>
          <a:prstGeom prst="roundRect">
            <a:avLst>
              <a:gd name="adj" fmla="val 3774"/>
            </a:avLst>
          </a:prstGeom>
          <a:solidFill>
            <a:srgbClr val="FFF7ED"/>
          </a:solidFill>
          <a:ln w="9525">
            <a:solidFill>
              <a:srgbClr val="FED7AA"/>
            </a:solidFill>
            <a:prstDash val="solid"/>
          </a:ln>
        </p:spPr>
      </p:sp>
      <p:sp>
        <p:nvSpPr>
          <p:cNvPr id="23" name="icon-circle"/>
          <p:cNvSpPr/>
          <p:nvPr/>
        </p:nvSpPr>
        <p:spPr>
          <a:xfrm>
            <a:off x="685800" y="4133088"/>
            <a:ext cx="411480" cy="411480"/>
          </a:xfrm>
          <a:prstGeom prst="ellipse">
            <a:avLst/>
          </a:prstGeom>
          <a:solidFill>
            <a:srgbClr val="ED7D31"/>
          </a:solidFill>
          <a:ln w="12700">
            <a:solidFill>
              <a:srgbClr val="ED7D31"/>
            </a:solidFill>
            <a:prstDash val="solid"/>
          </a:ln>
        </p:spPr>
      </p:sp>
      <p:pic>
        <p:nvPicPr>
          <p:cNvPr id="24" name="icon" descr="preencoded.png">    </p:cNvPr>
          <p:cNvPicPr>
            <a:picLocks noChangeAspect="1"/>
          </p:cNvPicPr>
          <p:nvPr/>
        </p:nvPicPr>
        <p:blipFill>
          <a:blip r:embed="rId3"/>
          <a:stretch>
            <a:fillRect/>
          </a:stretch>
        </p:blipFill>
        <p:spPr>
          <a:xfrm>
            <a:off x="784555" y="4231843"/>
            <a:ext cx="213970" cy="213970"/>
          </a:xfrm>
          <a:prstGeom prst="rect">
            <a:avLst/>
          </a:prstGeom>
        </p:spPr>
      </p:pic>
      <p:sp>
        <p:nvSpPr>
          <p:cNvPr id="25" name="Text 19"/>
          <p:cNvSpPr txBox="1"/>
          <p:nvPr/>
        </p:nvSpPr>
        <p:spPr>
          <a:xfrm>
            <a:off x="1188720" y="4105656"/>
            <a:ext cx="2011680" cy="475488"/>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Teacher network for reach and content</a:t>
            </a:r>
            <a:endParaRPr lang="en-US" sz="1150" dirty="0"/>
          </a:p>
        </p:txBody>
      </p:sp>
      <p:sp>
        <p:nvSpPr>
          <p:cNvPr id="26" name="Text 20"/>
          <p:cNvSpPr txBox="1"/>
          <p:nvPr/>
        </p:nvSpPr>
        <p:spPr>
          <a:xfrm>
            <a:off x="685800" y="4654296"/>
            <a:ext cx="2468880" cy="120700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Whole classrooms on one phone (only </a:t>
            </a:r>
            <a:pPr indent="0" marL="0">
              <a:buNone/>
            </a:pPr>
            <a:r>
              <a:rPr lang="en-US" sz="1100" b="1" dirty="0">
                <a:solidFill>
                  <a:srgbClr val="C2410C"/>
                </a:solidFill>
                <a:latin typeface="Calibri" pitchFamily="34" charset="0"/>
                <a:ea typeface="Calibri" pitchFamily="34" charset="-122"/>
                <a:cs typeface="Calibri" pitchFamily="34" charset="-120"/>
              </a:rPr>
              <a:t>19.8%</a:t>
            </a:r>
            <a:pPr indent="0" marL="0">
              <a:buNone/>
            </a:pPr>
            <a:r>
              <a:rPr lang="en-US" sz="1100" dirty="0">
                <a:solidFill>
                  <a:srgbClr val="1F2937"/>
                </a:solidFill>
                <a:latin typeface="Calibri" pitchFamily="34" charset="0"/>
                <a:ea typeface="Calibri" pitchFamily="34" charset="-122"/>
                <a:cs typeface="Calibri" pitchFamily="34" charset="-120"/>
              </a:rPr>
              <a:t> of rural girls who use a smartphone own one) and local-language modules that teachers earn from.</a:t>
            </a:r>
            <a:endParaRPr lang="en-US" sz="1100" dirty="0"/>
          </a:p>
        </p:txBody>
      </p:sp>
      <p:sp>
        <p:nvSpPr>
          <p:cNvPr id="27" name="card"/>
          <p:cNvSpPr/>
          <p:nvPr/>
        </p:nvSpPr>
        <p:spPr>
          <a:xfrm>
            <a:off x="3520440" y="3995928"/>
            <a:ext cx="2743200" cy="1938528"/>
          </a:xfrm>
          <a:prstGeom prst="roundRect">
            <a:avLst>
              <a:gd name="adj" fmla="val 3774"/>
            </a:avLst>
          </a:prstGeom>
          <a:solidFill>
            <a:srgbClr val="FFF7ED"/>
          </a:solidFill>
          <a:ln w="9525">
            <a:solidFill>
              <a:srgbClr val="FED7AA"/>
            </a:solidFill>
            <a:prstDash val="solid"/>
          </a:ln>
        </p:spPr>
      </p:sp>
      <p:sp>
        <p:nvSpPr>
          <p:cNvPr id="28" name="icon-circle"/>
          <p:cNvSpPr/>
          <p:nvPr/>
        </p:nvSpPr>
        <p:spPr>
          <a:xfrm>
            <a:off x="3657600" y="4133088"/>
            <a:ext cx="411480" cy="411480"/>
          </a:xfrm>
          <a:prstGeom prst="ellipse">
            <a:avLst/>
          </a:prstGeom>
          <a:solidFill>
            <a:srgbClr val="ED7D31"/>
          </a:solidFill>
          <a:ln w="12700">
            <a:solidFill>
              <a:srgbClr val="ED7D31"/>
            </a:solidFill>
            <a:prstDash val="solid"/>
          </a:ln>
        </p:spPr>
      </p:sp>
      <p:pic>
        <p:nvPicPr>
          <p:cNvPr id="29" name="icon" descr="preencoded.png">    </p:cNvPr>
          <p:cNvPicPr>
            <a:picLocks noChangeAspect="1"/>
          </p:cNvPicPr>
          <p:nvPr/>
        </p:nvPicPr>
        <p:blipFill>
          <a:blip r:embed="rId4"/>
          <a:stretch>
            <a:fillRect/>
          </a:stretch>
        </p:blipFill>
        <p:spPr>
          <a:xfrm>
            <a:off x="3756355" y="4231843"/>
            <a:ext cx="213970" cy="213970"/>
          </a:xfrm>
          <a:prstGeom prst="rect">
            <a:avLst/>
          </a:prstGeom>
        </p:spPr>
      </p:pic>
      <p:sp>
        <p:nvSpPr>
          <p:cNvPr id="30" name="Text 23"/>
          <p:cNvSpPr txBox="1"/>
          <p:nvPr/>
        </p:nvSpPr>
        <p:spPr>
          <a:xfrm>
            <a:off x="4160520" y="4105656"/>
            <a:ext cx="2011680" cy="475488"/>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Family-first trust</a:t>
            </a:r>
            <a:endParaRPr lang="en-US" sz="1150" dirty="0"/>
          </a:p>
        </p:txBody>
      </p:sp>
      <p:sp>
        <p:nvSpPr>
          <p:cNvPr id="31" name="Text 24"/>
          <p:cNvSpPr txBox="1"/>
          <p:nvPr/>
        </p:nvSpPr>
        <p:spPr>
          <a:xfrm>
            <a:off x="3657600" y="4654296"/>
            <a:ext cx="2468880" cy="1207008"/>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Parent Pitch plus honest earnings maths targets the barrier research identifies, parental scepticism, and spreads through WhatsApp.</a:t>
            </a:r>
            <a:endParaRPr lang="en-US" sz="1100" dirty="0"/>
          </a:p>
        </p:txBody>
      </p:sp>
      <p:sp>
        <p:nvSpPr>
          <p:cNvPr id="32" name="flywheel-ring"/>
          <p:cNvSpPr/>
          <p:nvPr/>
        </p:nvSpPr>
        <p:spPr>
          <a:xfrm>
            <a:off x="7525512" y="2313432"/>
            <a:ext cx="2962656" cy="2962656"/>
          </a:xfrm>
          <a:prstGeom prst="ellipse">
            <a:avLst/>
          </a:prstGeom>
          <a:solidFill>
            <a:srgbClr val="FFFFFF"/>
          </a:solidFill>
          <a:ln w="25400">
            <a:solidFill>
              <a:srgbClr val="94A3B8"/>
            </a:solidFill>
            <a:prstDash val="dash"/>
          </a:ln>
        </p:spPr>
      </p:sp>
      <p:sp>
        <p:nvSpPr>
          <p:cNvPr id="33" name="flywheel-centre"/>
          <p:cNvSpPr/>
          <p:nvPr/>
        </p:nvSpPr>
        <p:spPr>
          <a:xfrm>
            <a:off x="8183880" y="3227832"/>
            <a:ext cx="1645920" cy="1133856"/>
          </a:xfrm>
          <a:prstGeom prst="ellipse">
            <a:avLst/>
          </a:prstGeom>
          <a:solidFill>
            <a:srgbClr val="FFFFFF"/>
          </a:solidFill>
          <a:ln w="25400">
            <a:solidFill>
              <a:srgbClr val="ED7D31"/>
            </a:solidFill>
            <a:prstDash val="solid"/>
          </a:ln>
        </p:spPr>
      </p:sp>
      <p:sp>
        <p:nvSpPr>
          <p:cNvPr id="34" name="Text 27"/>
          <p:cNvSpPr txBox="1"/>
          <p:nvPr/>
        </p:nvSpPr>
        <p:spPr>
          <a:xfrm>
            <a:off x="8229600" y="3227832"/>
            <a:ext cx="1554480" cy="1133856"/>
          </a:xfrm>
          <a:prstGeom prst="rect">
            <a:avLst/>
          </a:prstGeom>
          <a:noFill/>
          <a:ln/>
        </p:spPr>
        <p:txBody>
          <a:bodyPr wrap="square" lIns="0" tIns="0" rIns="0" bIns="0" rtlCol="0" anchor="ctr"/>
          <a:lstStyle/>
          <a:p>
            <a:pPr algn="ctr" indent="0" marL="0">
              <a:buNone/>
            </a:pPr>
            <a:r>
              <a:rPr lang="en-US" sz="1500" b="1" dirty="0">
                <a:solidFill>
                  <a:srgbClr val="1E3A8A"/>
                </a:solidFill>
                <a:latin typeface="Calibri" pitchFamily="34" charset="0"/>
                <a:ea typeface="Calibri" pitchFamily="34" charset="-122"/>
                <a:cs typeface="Calibri" pitchFamily="34" charset="-120"/>
              </a:rPr>
              <a:t>Yukti</a:t>
            </a:r>
            <a:pPr algn="ctr" indent="0" marL="0">
              <a:buNone/>
            </a:pPr>
            <a:endParaRPr lang="en-US" sz="1500" dirty="0"/>
          </a:p>
          <a:p>
            <a:pPr algn="ctr" indent="0" marL="0">
              <a:buNone/>
            </a:pPr>
            <a:r>
              <a:rPr lang="en-US" sz="900" dirty="0">
                <a:solidFill>
                  <a:srgbClr val="64748B"/>
                </a:solidFill>
                <a:latin typeface="Calibri" pitchFamily="34" charset="0"/>
                <a:ea typeface="Calibri" pitchFamily="34" charset="-122"/>
                <a:cs typeface="Calibri" pitchFamily="34" charset="-120"/>
              </a:rPr>
              <a:t>grows smarter with every story</a:t>
            </a:r>
            <a:endParaRPr lang="en-US" sz="1500" dirty="0"/>
          </a:p>
        </p:txBody>
      </p:sp>
      <p:sp>
        <p:nvSpPr>
          <p:cNvPr id="35" name="connector"/>
          <p:cNvSpPr/>
          <p:nvPr/>
        </p:nvSpPr>
        <p:spPr>
          <a:xfrm>
            <a:off x="9529490" y="2615184"/>
            <a:ext cx="237568" cy="137160"/>
          </a:xfrm>
          <a:prstGeom prst="line">
            <a:avLst/>
          </a:prstGeom>
          <a:noFill/>
          <a:ln w="25400">
            <a:solidFill>
              <a:srgbClr val="64748B"/>
            </a:solidFill>
            <a:prstDash val="solid"/>
            <a:tailEnd type="triangle"/>
          </a:ln>
        </p:spPr>
      </p:sp>
      <p:sp>
        <p:nvSpPr>
          <p:cNvPr id="36" name="connector"/>
          <p:cNvSpPr/>
          <p:nvPr/>
        </p:nvSpPr>
        <p:spPr>
          <a:xfrm>
            <a:off x="10289708" y="3657600"/>
            <a:ext cx="914" cy="274320"/>
          </a:xfrm>
          <a:prstGeom prst="line">
            <a:avLst/>
          </a:prstGeom>
          <a:noFill/>
          <a:ln w="25400">
            <a:solidFill>
              <a:srgbClr val="64748B"/>
            </a:solidFill>
            <a:prstDash val="solid"/>
            <a:tailEnd type="triangle"/>
          </a:ln>
        </p:spPr>
      </p:sp>
      <p:sp>
        <p:nvSpPr>
          <p:cNvPr id="37" name="connector"/>
          <p:cNvSpPr/>
          <p:nvPr/>
        </p:nvSpPr>
        <p:spPr>
          <a:xfrm flipH="1">
            <a:off x="9529490" y="4837176"/>
            <a:ext cx="237568" cy="137160"/>
          </a:xfrm>
          <a:prstGeom prst="line">
            <a:avLst/>
          </a:prstGeom>
          <a:noFill/>
          <a:ln w="25400">
            <a:solidFill>
              <a:srgbClr val="64748B"/>
            </a:solidFill>
            <a:prstDash val="solid"/>
            <a:tailEnd type="triangle"/>
          </a:ln>
        </p:spPr>
      </p:sp>
      <p:sp>
        <p:nvSpPr>
          <p:cNvPr id="38" name="connector"/>
          <p:cNvSpPr/>
          <p:nvPr/>
        </p:nvSpPr>
        <p:spPr>
          <a:xfrm flipH="1" flipV="1">
            <a:off x="8246622" y="4837176"/>
            <a:ext cx="237568" cy="137160"/>
          </a:xfrm>
          <a:prstGeom prst="line">
            <a:avLst/>
          </a:prstGeom>
          <a:noFill/>
          <a:ln w="25400">
            <a:solidFill>
              <a:srgbClr val="64748B"/>
            </a:solidFill>
            <a:prstDash val="solid"/>
            <a:tailEnd type="triangle"/>
          </a:ln>
        </p:spPr>
      </p:sp>
      <p:sp>
        <p:nvSpPr>
          <p:cNvPr id="39" name="connector"/>
          <p:cNvSpPr/>
          <p:nvPr/>
        </p:nvSpPr>
        <p:spPr>
          <a:xfrm flipV="1">
            <a:off x="7723972" y="3657600"/>
            <a:ext cx="914" cy="274320"/>
          </a:xfrm>
          <a:prstGeom prst="line">
            <a:avLst/>
          </a:prstGeom>
          <a:noFill/>
          <a:ln w="25400">
            <a:solidFill>
              <a:srgbClr val="64748B"/>
            </a:solidFill>
            <a:prstDash val="solid"/>
            <a:tailEnd type="triangle"/>
          </a:ln>
        </p:spPr>
      </p:sp>
      <p:sp>
        <p:nvSpPr>
          <p:cNvPr id="40" name="connector"/>
          <p:cNvSpPr/>
          <p:nvPr/>
        </p:nvSpPr>
        <p:spPr>
          <a:xfrm flipV="1">
            <a:off x="8246622" y="2615184"/>
            <a:ext cx="237568" cy="137160"/>
          </a:xfrm>
          <a:prstGeom prst="line">
            <a:avLst/>
          </a:prstGeom>
          <a:noFill/>
          <a:ln w="25400">
            <a:solidFill>
              <a:srgbClr val="64748B"/>
            </a:solidFill>
            <a:prstDash val="solid"/>
            <a:tailEnd type="triangle"/>
          </a:ln>
        </p:spPr>
      </p:sp>
      <p:sp>
        <p:nvSpPr>
          <p:cNvPr id="41" name="flywheel-pill"/>
          <p:cNvSpPr/>
          <p:nvPr/>
        </p:nvSpPr>
        <p:spPr>
          <a:xfrm>
            <a:off x="8115300" y="2057400"/>
            <a:ext cx="1783080" cy="512064"/>
          </a:xfrm>
          <a:prstGeom prst="roundRect">
            <a:avLst>
              <a:gd name="adj" fmla="val 44643"/>
            </a:avLst>
          </a:prstGeom>
          <a:solidFill>
            <a:srgbClr val="ED7D31"/>
          </a:solidFill>
          <a:ln w="12700">
            <a:solidFill>
              <a:srgbClr val="ED7D31"/>
            </a:solidFill>
            <a:prstDash val="solid"/>
          </a:ln>
        </p:spPr>
      </p:sp>
      <p:sp>
        <p:nvSpPr>
          <p:cNvPr id="42" name="Text 35"/>
          <p:cNvSpPr txBox="1"/>
          <p:nvPr/>
        </p:nvSpPr>
        <p:spPr>
          <a:xfrm>
            <a:off x="8170164" y="2057400"/>
            <a:ext cx="1673352"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More student stories</a:t>
            </a:r>
            <a:endParaRPr lang="en-US" sz="950" dirty="0"/>
          </a:p>
        </p:txBody>
      </p:sp>
      <p:sp>
        <p:nvSpPr>
          <p:cNvPr id="43" name="flywheel-pill"/>
          <p:cNvSpPr/>
          <p:nvPr/>
        </p:nvSpPr>
        <p:spPr>
          <a:xfrm>
            <a:off x="9398168" y="2798064"/>
            <a:ext cx="1783080" cy="512064"/>
          </a:xfrm>
          <a:prstGeom prst="roundRect">
            <a:avLst>
              <a:gd name="adj" fmla="val 44643"/>
            </a:avLst>
          </a:prstGeom>
          <a:solidFill>
            <a:srgbClr val="1E3A8A"/>
          </a:solidFill>
          <a:ln w="12700">
            <a:solidFill>
              <a:srgbClr val="1E3A8A"/>
            </a:solidFill>
            <a:prstDash val="solid"/>
          </a:ln>
        </p:spPr>
      </p:sp>
      <p:sp>
        <p:nvSpPr>
          <p:cNvPr id="44" name="Text 37"/>
          <p:cNvSpPr txBox="1"/>
          <p:nvPr/>
        </p:nvSpPr>
        <p:spPr>
          <a:xfrm>
            <a:off x="9453032" y="2798064"/>
            <a:ext cx="1673352"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Richer skills &amp; outcome data</a:t>
            </a:r>
            <a:endParaRPr lang="en-US" sz="950" dirty="0"/>
          </a:p>
        </p:txBody>
      </p:sp>
      <p:sp>
        <p:nvSpPr>
          <p:cNvPr id="45" name="flywheel-pill"/>
          <p:cNvSpPr/>
          <p:nvPr/>
        </p:nvSpPr>
        <p:spPr>
          <a:xfrm>
            <a:off x="9398168" y="4279392"/>
            <a:ext cx="1783080" cy="512064"/>
          </a:xfrm>
          <a:prstGeom prst="roundRect">
            <a:avLst>
              <a:gd name="adj" fmla="val 44643"/>
            </a:avLst>
          </a:prstGeom>
          <a:solidFill>
            <a:srgbClr val="ED7D31"/>
          </a:solidFill>
          <a:ln w="12700">
            <a:solidFill>
              <a:srgbClr val="ED7D31"/>
            </a:solidFill>
            <a:prstDash val="solid"/>
          </a:ln>
        </p:spPr>
      </p:sp>
      <p:sp>
        <p:nvSpPr>
          <p:cNvPr id="46" name="Text 39"/>
          <p:cNvSpPr txBox="1"/>
          <p:nvPr/>
        </p:nvSpPr>
        <p:spPr>
          <a:xfrm>
            <a:off x="9453032" y="4279392"/>
            <a:ext cx="1673352"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Better career matches</a:t>
            </a:r>
            <a:endParaRPr lang="en-US" sz="950" dirty="0"/>
          </a:p>
        </p:txBody>
      </p:sp>
      <p:sp>
        <p:nvSpPr>
          <p:cNvPr id="47" name="flywheel-pill"/>
          <p:cNvSpPr/>
          <p:nvPr/>
        </p:nvSpPr>
        <p:spPr>
          <a:xfrm>
            <a:off x="8115300" y="5020056"/>
            <a:ext cx="1783080" cy="512064"/>
          </a:xfrm>
          <a:prstGeom prst="roundRect">
            <a:avLst>
              <a:gd name="adj" fmla="val 44643"/>
            </a:avLst>
          </a:prstGeom>
          <a:solidFill>
            <a:srgbClr val="1E3A8A"/>
          </a:solidFill>
          <a:ln w="12700">
            <a:solidFill>
              <a:srgbClr val="1E3A8A"/>
            </a:solidFill>
            <a:prstDash val="solid"/>
          </a:ln>
        </p:spPr>
      </p:sp>
      <p:sp>
        <p:nvSpPr>
          <p:cNvPr id="48" name="Text 41"/>
          <p:cNvSpPr txBox="1"/>
          <p:nvPr/>
        </p:nvSpPr>
        <p:spPr>
          <a:xfrm>
            <a:off x="8170164" y="5020056"/>
            <a:ext cx="1673352"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Parents say yes</a:t>
            </a:r>
            <a:endParaRPr lang="en-US" sz="950" dirty="0"/>
          </a:p>
        </p:txBody>
      </p:sp>
      <p:sp>
        <p:nvSpPr>
          <p:cNvPr id="49" name="flywheel-pill"/>
          <p:cNvSpPr/>
          <p:nvPr/>
        </p:nvSpPr>
        <p:spPr>
          <a:xfrm>
            <a:off x="6832432" y="4279392"/>
            <a:ext cx="1783080" cy="512064"/>
          </a:xfrm>
          <a:prstGeom prst="roundRect">
            <a:avLst>
              <a:gd name="adj" fmla="val 44643"/>
            </a:avLst>
          </a:prstGeom>
          <a:solidFill>
            <a:srgbClr val="ED7D31"/>
          </a:solidFill>
          <a:ln w="12700">
            <a:solidFill>
              <a:srgbClr val="ED7D31"/>
            </a:solidFill>
            <a:prstDash val="solid"/>
          </a:ln>
        </p:spPr>
      </p:sp>
      <p:sp>
        <p:nvSpPr>
          <p:cNvPr id="50" name="Text 43"/>
          <p:cNvSpPr txBox="1"/>
          <p:nvPr/>
        </p:nvSpPr>
        <p:spPr>
          <a:xfrm>
            <a:off x="6887296" y="4279392"/>
            <a:ext cx="1673352"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More enrolments &amp; placements</a:t>
            </a:r>
            <a:endParaRPr lang="en-US" sz="950" dirty="0"/>
          </a:p>
        </p:txBody>
      </p:sp>
      <p:sp>
        <p:nvSpPr>
          <p:cNvPr id="51" name="flywheel-pill"/>
          <p:cNvSpPr/>
          <p:nvPr/>
        </p:nvSpPr>
        <p:spPr>
          <a:xfrm>
            <a:off x="6832432" y="2798064"/>
            <a:ext cx="1783080" cy="512064"/>
          </a:xfrm>
          <a:prstGeom prst="roundRect">
            <a:avLst>
              <a:gd name="adj" fmla="val 44643"/>
            </a:avLst>
          </a:prstGeom>
          <a:solidFill>
            <a:srgbClr val="1E3A8A"/>
          </a:solidFill>
          <a:ln w="12700">
            <a:solidFill>
              <a:srgbClr val="1E3A8A"/>
            </a:solidFill>
            <a:prstDash val="solid"/>
          </a:ln>
        </p:spPr>
      </p:sp>
      <p:sp>
        <p:nvSpPr>
          <p:cNvPr id="52" name="Text 45"/>
          <p:cNvSpPr txBox="1"/>
          <p:nvPr/>
        </p:nvSpPr>
        <p:spPr>
          <a:xfrm>
            <a:off x="6887296" y="2798064"/>
            <a:ext cx="1673352" cy="51206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More teachers &amp; partners join</a:t>
            </a:r>
            <a:endParaRPr lang="en-US" sz="950" dirty="0"/>
          </a:p>
        </p:txBody>
      </p:sp>
      <p:sp>
        <p:nvSpPr>
          <p:cNvPr id="53" name="Text 46"/>
          <p:cNvSpPr txBox="1"/>
          <p:nvPr/>
        </p:nvSpPr>
        <p:spPr>
          <a:xfrm>
            <a:off x="548640" y="5943600"/>
            <a:ext cx="11094415" cy="256032"/>
          </a:xfrm>
          <a:prstGeom prst="rect">
            <a:avLst/>
          </a:prstGeom>
          <a:noFill/>
          <a:ln/>
        </p:spPr>
        <p:txBody>
          <a:bodyPr wrap="square" lIns="0" tIns="0" rIns="0" bIns="0" rtlCol="0" anchor="ctr"/>
          <a:lstStyle/>
          <a:p>
            <a:pPr indent="0" marL="0">
              <a:buNone/>
            </a:pPr>
            <a:r>
              <a:rPr lang="en-US" sz="1100" i="1" dirty="0">
                <a:solidFill>
                  <a:srgbClr val="1E3A8A"/>
                </a:solidFill>
                <a:latin typeface="Calibri" pitchFamily="34" charset="0"/>
                <a:ea typeface="Calibri" pitchFamily="34" charset="-122"/>
                <a:cs typeface="Calibri" pitchFamily="34" charset="-120"/>
              </a:rPr>
              <a:t>Grounded-AI design (“AI understands, data decides”) keeps AI cost at ≈ ₹0.13 per student session (illustrative calculation) and keeps the numbers auditable.</a:t>
            </a:r>
            <a:endParaRPr lang="en-US" sz="1100" dirty="0"/>
          </a:p>
        </p:txBody>
      </p:sp>
      <p:sp>
        <p:nvSpPr>
          <p:cNvPr id="54" name="Text 47"/>
          <p:cNvSpPr txBox="1"/>
          <p:nvPr/>
        </p:nvSpPr>
        <p:spPr>
          <a:xfrm>
            <a:off x="548640" y="6217920"/>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PLFS Annual Report 2025 (MoSPI); ASER 2023; Hayashi et al. (2025).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2F5597"/>
          </a:solidFill>
          <a:ln w="12700">
            <a:solidFill>
              <a:srgbClr val="2F5597"/>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Channels</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How do you plan to reach your customers? Which channels will you use to connect with your target market? Identify the paths you will use to reach your customers</a:t>
            </a:r>
            <a:endParaRPr lang="en-US" sz="1200" dirty="0"/>
          </a:p>
        </p:txBody>
      </p:sp>
      <p:sp>
        <p:nvSpPr>
          <p:cNvPr id="8" name="Text 6"/>
          <p:cNvSpPr txBox="1"/>
          <p:nvPr/>
        </p:nvSpPr>
        <p:spPr>
          <a:xfrm>
            <a:off x="548640" y="1207008"/>
            <a:ext cx="11094415" cy="621792"/>
          </a:xfrm>
          <a:prstGeom prst="rect">
            <a:avLst/>
          </a:prstGeom>
          <a:noFill/>
          <a:ln/>
        </p:spPr>
        <p:txBody>
          <a:bodyPr wrap="square" lIns="0" tIns="0" rIns="0" bIns="0" rtlCol="0" anchor="t"/>
          <a:lstStyle/>
          <a:p>
            <a:pPr indent="0" marL="0">
              <a:buNone/>
            </a:pPr>
            <a:r>
              <a:rPr lang="en-US" sz="1800" b="1" dirty="0">
                <a:solidFill>
                  <a:srgbClr val="1E3A8A"/>
                </a:solidFill>
                <a:latin typeface="Calibri" pitchFamily="34" charset="0"/>
                <a:ea typeface="Calibri" pitchFamily="34" charset="-122"/>
                <a:cs typeface="Calibri" pitchFamily="34" charset="-120"/>
              </a:rPr>
              <a:t>We reach students through networks that already exist in every village: schools and ITIs, women’s self-help groups, village service centres and WhatsApp.</a:t>
            </a:r>
            <a:endParaRPr lang="en-US" sz="1800" dirty="0"/>
          </a:p>
        </p:txBody>
      </p:sp>
      <p:sp>
        <p:nvSpPr>
          <p:cNvPr id="9" name="Text 7"/>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10" name="Text 8"/>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8/9</a:t>
            </a:r>
            <a:endParaRPr lang="en-US" sz="1000" dirty="0"/>
          </a:p>
        </p:txBody>
      </p:sp>
      <p:sp>
        <p:nvSpPr>
          <p:cNvPr id="12" name="card"/>
          <p:cNvSpPr/>
          <p:nvPr/>
        </p:nvSpPr>
        <p:spPr>
          <a:xfrm>
            <a:off x="548640" y="1874520"/>
            <a:ext cx="3515258" cy="2926080"/>
          </a:xfrm>
          <a:prstGeom prst="roundRect">
            <a:avLst>
              <a:gd name="adj" fmla="val 2500"/>
            </a:avLst>
          </a:prstGeom>
          <a:solidFill>
            <a:srgbClr val="EEF2FF"/>
          </a:solidFill>
          <a:ln w="9525">
            <a:solidFill>
              <a:srgbClr val="EEF2FF"/>
            </a:solidFill>
            <a:prstDash val="solid"/>
          </a:ln>
        </p:spPr>
      </p:sp>
      <p:sp>
        <p:nvSpPr>
          <p:cNvPr id="13" name="col-header"/>
          <p:cNvSpPr/>
          <p:nvPr/>
        </p:nvSpPr>
        <p:spPr>
          <a:xfrm>
            <a:off x="548640" y="1874520"/>
            <a:ext cx="3515258" cy="438912"/>
          </a:xfrm>
          <a:prstGeom prst="roundRect">
            <a:avLst>
              <a:gd name="adj" fmla="val 16667"/>
            </a:avLst>
          </a:prstGeom>
          <a:solidFill>
            <a:srgbClr val="1E3A8A"/>
          </a:solidFill>
          <a:ln w="12700">
            <a:solidFill>
              <a:srgbClr val="1E3A8A"/>
            </a:solidFill>
            <a:prstDash val="solid"/>
          </a:ln>
        </p:spPr>
      </p:sp>
      <p:sp>
        <p:nvSpPr>
          <p:cNvPr id="14" name="Text 11"/>
          <p:cNvSpPr txBox="1"/>
          <p:nvPr/>
        </p:nvSpPr>
        <p:spPr>
          <a:xfrm>
            <a:off x="685800" y="1874520"/>
            <a:ext cx="3240938"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Reach (acquisition)</a:t>
            </a:r>
            <a:endParaRPr lang="en-US" sz="1300" dirty="0"/>
          </a:p>
        </p:txBody>
      </p:sp>
      <p:sp>
        <p:nvSpPr>
          <p:cNvPr id="15" name="Text 12"/>
          <p:cNvSpPr txBox="1"/>
          <p:nvPr/>
        </p:nvSpPr>
        <p:spPr>
          <a:xfrm>
            <a:off x="713232" y="2441448"/>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Schools &amp; ITIs</a:t>
            </a:r>
            <a:pPr indent="0" marL="0">
              <a:buNone/>
            </a:pPr>
            <a:r>
              <a:rPr lang="en-US" sz="1150" dirty="0">
                <a:solidFill>
                  <a:srgbClr val="1F2937"/>
                </a:solidFill>
                <a:latin typeface="Calibri" pitchFamily="34" charset="0"/>
                <a:ea typeface="Calibri" pitchFamily="34" charset="-122"/>
                <a:cs typeface="Calibri" pitchFamily="34" charset="-120"/>
              </a:rPr>
              <a:t> via teachers in shared-phone mode: </a:t>
            </a:r>
            <a:pPr indent="0" marL="0">
              <a:buNone/>
            </a:pPr>
            <a:r>
              <a:rPr lang="en-US" sz="1150" b="1" dirty="0">
                <a:solidFill>
                  <a:srgbClr val="1E3A8A"/>
                </a:solidFill>
                <a:latin typeface="Calibri" pitchFamily="34" charset="0"/>
                <a:ea typeface="Calibri" pitchFamily="34" charset="-122"/>
                <a:cs typeface="Calibri" pitchFamily="34" charset="-120"/>
              </a:rPr>
              <a:t>14,789 ITIs, 25.4 lakh seats</a:t>
            </a:r>
            <a:endParaRPr lang="en-US" sz="1150" dirty="0"/>
          </a:p>
        </p:txBody>
      </p:sp>
      <p:sp>
        <p:nvSpPr>
          <p:cNvPr id="16" name="Text 13"/>
          <p:cNvSpPr txBox="1"/>
          <p:nvPr/>
        </p:nvSpPr>
        <p:spPr>
          <a:xfrm>
            <a:off x="713232" y="3209544"/>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Women’s SHGs (DAY-NRLM): </a:t>
            </a:r>
            <a:pPr indent="0" marL="0">
              <a:buNone/>
            </a:pPr>
            <a:pPr indent="0" marL="0">
              <a:buNone/>
            </a:pPr>
            <a:r>
              <a:rPr lang="en-US" sz="1150" b="1" dirty="0">
                <a:solidFill>
                  <a:srgbClr val="1E3A8A"/>
                </a:solidFill>
                <a:latin typeface="Calibri" pitchFamily="34" charset="0"/>
                <a:ea typeface="Calibri" pitchFamily="34" charset="-122"/>
                <a:cs typeface="Calibri" pitchFamily="34" charset="-120"/>
              </a:rPr>
              <a:t>10.05 crore women in 90.9 lakh groups</a:t>
            </a:r>
            <a:endParaRPr lang="en-US" sz="1150" dirty="0"/>
          </a:p>
        </p:txBody>
      </p:sp>
      <p:sp>
        <p:nvSpPr>
          <p:cNvPr id="17" name="Text 14"/>
          <p:cNvSpPr txBox="1"/>
          <p:nvPr/>
        </p:nvSpPr>
        <p:spPr>
          <a:xfrm>
            <a:off x="713232" y="3977640"/>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Common Service Centres: </a:t>
            </a:r>
            <a:pPr indent="0" marL="0">
              <a:buNone/>
            </a:pPr>
            <a:pPr indent="0" marL="0">
              <a:buNone/>
            </a:pPr>
            <a:r>
              <a:rPr lang="en-US" sz="1150" b="1" dirty="0">
                <a:solidFill>
                  <a:srgbClr val="1E3A8A"/>
                </a:solidFill>
                <a:latin typeface="Calibri" pitchFamily="34" charset="0"/>
                <a:ea typeface="Calibri" pitchFamily="34" charset="-122"/>
                <a:cs typeface="Calibri" pitchFamily="34" charset="-120"/>
              </a:rPr>
              <a:t>5.97 lakh functional, 4.73 lakh at gram-panchayat level</a:t>
            </a:r>
            <a:endParaRPr lang="en-US" sz="1150" dirty="0"/>
          </a:p>
        </p:txBody>
      </p:sp>
      <p:sp>
        <p:nvSpPr>
          <p:cNvPr id="18" name="card"/>
          <p:cNvSpPr/>
          <p:nvPr/>
        </p:nvSpPr>
        <p:spPr>
          <a:xfrm>
            <a:off x="4338218" y="1874520"/>
            <a:ext cx="3515258" cy="2926080"/>
          </a:xfrm>
          <a:prstGeom prst="roundRect">
            <a:avLst>
              <a:gd name="adj" fmla="val 2500"/>
            </a:avLst>
          </a:prstGeom>
          <a:solidFill>
            <a:srgbClr val="FFFBEB"/>
          </a:solidFill>
          <a:ln w="9525">
            <a:solidFill>
              <a:srgbClr val="FFFBEB"/>
            </a:solidFill>
            <a:prstDash val="solid"/>
          </a:ln>
        </p:spPr>
      </p:sp>
      <p:sp>
        <p:nvSpPr>
          <p:cNvPr id="19" name="col-header"/>
          <p:cNvSpPr/>
          <p:nvPr/>
        </p:nvSpPr>
        <p:spPr>
          <a:xfrm>
            <a:off x="4338218" y="1874520"/>
            <a:ext cx="3515258" cy="438912"/>
          </a:xfrm>
          <a:prstGeom prst="roundRect">
            <a:avLst>
              <a:gd name="adj" fmla="val 16667"/>
            </a:avLst>
          </a:prstGeom>
          <a:solidFill>
            <a:srgbClr val="B45309"/>
          </a:solidFill>
          <a:ln w="12700">
            <a:solidFill>
              <a:srgbClr val="B45309"/>
            </a:solidFill>
            <a:prstDash val="solid"/>
          </a:ln>
        </p:spPr>
      </p:sp>
      <p:sp>
        <p:nvSpPr>
          <p:cNvPr id="20" name="Text 17"/>
          <p:cNvSpPr txBox="1"/>
          <p:nvPr/>
        </p:nvSpPr>
        <p:spPr>
          <a:xfrm>
            <a:off x="4475378" y="1874520"/>
            <a:ext cx="3240938"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Spread (word of mouth)</a:t>
            </a:r>
            <a:endParaRPr lang="en-US" sz="1300" dirty="0"/>
          </a:p>
        </p:txBody>
      </p:sp>
      <p:sp>
        <p:nvSpPr>
          <p:cNvPr id="21" name="Text 18"/>
          <p:cNvSpPr txBox="1"/>
          <p:nvPr/>
        </p:nvSpPr>
        <p:spPr>
          <a:xfrm>
            <a:off x="4502810" y="2441448"/>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Parent Pitch on WhatsApp: </a:t>
            </a:r>
            <a:pPr indent="0" marL="0">
              <a:buNone/>
            </a:pPr>
            <a:pPr indent="0" marL="0">
              <a:buNone/>
            </a:pPr>
            <a:r>
              <a:rPr lang="en-US" sz="1150" b="1" dirty="0">
                <a:solidFill>
                  <a:srgbClr val="B45309"/>
                </a:solidFill>
                <a:latin typeface="Calibri" pitchFamily="34" charset="0"/>
                <a:ea typeface="Calibri" pitchFamily="34" charset="-122"/>
                <a:cs typeface="Calibri" pitchFamily="34" charset="-120"/>
              </a:rPr>
              <a:t>90.5% of rural youth used social media in the past week</a:t>
            </a:r>
            <a:endParaRPr lang="en-US" sz="1150" dirty="0"/>
          </a:p>
        </p:txBody>
      </p:sp>
      <p:sp>
        <p:nvSpPr>
          <p:cNvPr id="22" name="Text 19"/>
          <p:cNvSpPr txBox="1"/>
          <p:nvPr/>
        </p:nvSpPr>
        <p:spPr>
          <a:xfrm>
            <a:off x="4502810" y="3209544"/>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Didi / Bhaiya alumni stories</a:t>
            </a:r>
            <a:pPr indent="0" marL="0">
              <a:buNone/>
            </a:pPr>
            <a:r>
              <a:rPr lang="en-US" sz="1150" dirty="0">
                <a:solidFill>
                  <a:srgbClr val="1F2937"/>
                </a:solidFill>
                <a:latin typeface="Calibri" pitchFamily="34" charset="0"/>
                <a:ea typeface="Calibri" pitchFamily="34" charset="-122"/>
                <a:cs typeface="Calibri" pitchFamily="34" charset="-120"/>
              </a:rPr>
              <a:t> shared in district groups</a:t>
            </a:r>
            <a:pPr indent="0" marL="0">
              <a:buNone/>
            </a:pPr>
            <a:endParaRPr lang="en-US" sz="1150" dirty="0"/>
          </a:p>
        </p:txBody>
      </p:sp>
      <p:sp>
        <p:nvSpPr>
          <p:cNvPr id="23" name="Text 20"/>
          <p:cNvSpPr txBox="1"/>
          <p:nvPr/>
        </p:nvSpPr>
        <p:spPr>
          <a:xfrm>
            <a:off x="4502810" y="3977640"/>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Skill Badges</a:t>
            </a:r>
            <a:pPr indent="0" marL="0">
              <a:buNone/>
            </a:pPr>
            <a:r>
              <a:rPr lang="en-US" sz="1150" dirty="0">
                <a:solidFill>
                  <a:srgbClr val="1F2937"/>
                </a:solidFill>
                <a:latin typeface="Calibri" pitchFamily="34" charset="0"/>
                <a:ea typeface="Calibri" pitchFamily="34" charset="-122"/>
                <a:cs typeface="Calibri" pitchFamily="34" charset="-120"/>
              </a:rPr>
              <a:t> shared with employers and peers</a:t>
            </a:r>
            <a:pPr indent="0" marL="0">
              <a:buNone/>
            </a:pPr>
            <a:endParaRPr lang="en-US" sz="1150" dirty="0"/>
          </a:p>
        </p:txBody>
      </p:sp>
      <p:sp>
        <p:nvSpPr>
          <p:cNvPr id="24" name="card"/>
          <p:cNvSpPr/>
          <p:nvPr/>
        </p:nvSpPr>
        <p:spPr>
          <a:xfrm>
            <a:off x="8127797" y="1874520"/>
            <a:ext cx="3515258" cy="2926080"/>
          </a:xfrm>
          <a:prstGeom prst="roundRect">
            <a:avLst>
              <a:gd name="adj" fmla="val 2500"/>
            </a:avLst>
          </a:prstGeom>
          <a:solidFill>
            <a:srgbClr val="F0FDFA"/>
          </a:solidFill>
          <a:ln w="9525">
            <a:solidFill>
              <a:srgbClr val="F0FDFA"/>
            </a:solidFill>
            <a:prstDash val="solid"/>
          </a:ln>
        </p:spPr>
      </p:sp>
      <p:sp>
        <p:nvSpPr>
          <p:cNvPr id="25" name="col-header"/>
          <p:cNvSpPr/>
          <p:nvPr/>
        </p:nvSpPr>
        <p:spPr>
          <a:xfrm>
            <a:off x="8127797" y="1874520"/>
            <a:ext cx="3515258" cy="438912"/>
          </a:xfrm>
          <a:prstGeom prst="roundRect">
            <a:avLst>
              <a:gd name="adj" fmla="val 16667"/>
            </a:avLst>
          </a:prstGeom>
          <a:solidFill>
            <a:srgbClr val="0F766E"/>
          </a:solidFill>
          <a:ln w="12700">
            <a:solidFill>
              <a:srgbClr val="0F766E"/>
            </a:solidFill>
            <a:prstDash val="solid"/>
          </a:ln>
        </p:spPr>
      </p:sp>
      <p:sp>
        <p:nvSpPr>
          <p:cNvPr id="26" name="Text 23"/>
          <p:cNvSpPr txBox="1"/>
          <p:nvPr/>
        </p:nvSpPr>
        <p:spPr>
          <a:xfrm>
            <a:off x="8264957" y="1874520"/>
            <a:ext cx="3240938"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Scale (partners)</a:t>
            </a:r>
            <a:endParaRPr lang="en-US" sz="1300" dirty="0"/>
          </a:p>
        </p:txBody>
      </p:sp>
      <p:sp>
        <p:nvSpPr>
          <p:cNvPr id="27" name="Text 24"/>
          <p:cNvSpPr txBox="1"/>
          <p:nvPr/>
        </p:nvSpPr>
        <p:spPr>
          <a:xfrm>
            <a:off x="8292389" y="2441448"/>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State skill missions &amp; education departments</a:t>
            </a:r>
            <a:pPr indent="0" marL="0">
              <a:buNone/>
            </a:pPr>
            <a:r>
              <a:rPr lang="en-US" sz="1150" dirty="0">
                <a:solidFill>
                  <a:srgbClr val="1F2937"/>
                </a:solidFill>
                <a:latin typeface="Calibri" pitchFamily="34" charset="0"/>
                <a:ea typeface="Calibri" pitchFamily="34" charset="-122"/>
                <a:cs typeface="Calibri" pitchFamily="34" charset="-120"/>
              </a:rPr>
              <a:t> (district roll-outs; DIKSHA / Skill India links)</a:t>
            </a:r>
            <a:pPr indent="0" marL="0">
              <a:buNone/>
            </a:pPr>
            <a:endParaRPr lang="en-US" sz="1150" dirty="0"/>
          </a:p>
        </p:txBody>
      </p:sp>
      <p:sp>
        <p:nvSpPr>
          <p:cNvPr id="28" name="Text 25"/>
          <p:cNvSpPr txBox="1"/>
          <p:nvPr/>
        </p:nvSpPr>
        <p:spPr>
          <a:xfrm>
            <a:off x="8292389" y="3209544"/>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Training partners</a:t>
            </a:r>
            <a:pPr indent="0" marL="0">
              <a:buNone/>
            </a:pPr>
            <a:r>
              <a:rPr lang="en-US" sz="1150" dirty="0">
                <a:solidFill>
                  <a:srgbClr val="1F2937"/>
                </a:solidFill>
                <a:latin typeface="Calibri" pitchFamily="34" charset="0"/>
                <a:ea typeface="Calibri" pitchFamily="34" charset="-122"/>
                <a:cs typeface="Calibri" pitchFamily="34" charset="-120"/>
              </a:rPr>
              <a:t> (Suryamitra, PMKVY, ITIs) that need qualified, eligible candidates</a:t>
            </a:r>
            <a:pPr indent="0" marL="0">
              <a:buNone/>
            </a:pPr>
            <a:endParaRPr lang="en-US" sz="1150" dirty="0"/>
          </a:p>
        </p:txBody>
      </p:sp>
      <p:sp>
        <p:nvSpPr>
          <p:cNvPr id="29" name="Text 26"/>
          <p:cNvSpPr txBox="1"/>
          <p:nvPr/>
        </p:nvSpPr>
        <p:spPr>
          <a:xfrm>
            <a:off x="8292389" y="3977640"/>
            <a:ext cx="3186074" cy="713232"/>
          </a:xfrm>
          <a:prstGeom prst="rect">
            <a:avLst/>
          </a:prstGeom>
          <a:noFill/>
          <a:ln/>
        </p:spPr>
        <p:txBody>
          <a:bodyPr wrap="square" lIns="0" tIns="0" rIns="0" bIns="0" rtlCol="0" anchor="t"/>
          <a:lstStyle/>
          <a:p>
            <a:pPr indent="0" marL="0">
              <a:buNone/>
            </a:pPr>
            <a:r>
              <a:rPr lang="en-US" sz="1150" b="1" dirty="0">
                <a:solidFill>
                  <a:srgbClr val="1F2937"/>
                </a:solidFill>
                <a:latin typeface="Calibri" pitchFamily="34" charset="0"/>
                <a:ea typeface="Calibri" pitchFamily="34" charset="-122"/>
                <a:cs typeface="Calibri" pitchFamily="34" charset="-120"/>
              </a:rPr>
              <a:t>💼 CSR &amp; employers: </a:t>
            </a:r>
            <a:pPr indent="0" marL="0">
              <a:buNone/>
            </a:pPr>
            <a:pPr indent="0" marL="0">
              <a:buNone/>
            </a:pPr>
            <a:r>
              <a:rPr lang="en-US" sz="1150" b="1" dirty="0">
                <a:solidFill>
                  <a:srgbClr val="0F766E"/>
                </a:solidFill>
                <a:latin typeface="Calibri" pitchFamily="34" charset="0"/>
                <a:ea typeface="Calibri" pitchFamily="34" charset="-122"/>
                <a:cs typeface="Calibri" pitchFamily="34" charset="-120"/>
              </a:rPr>
              <a:t>₹10,085 crore of CSR went to education in FY23</a:t>
            </a:r>
            <a:endParaRPr lang="en-US" sz="1150" dirty="0"/>
          </a:p>
        </p:txBody>
      </p:sp>
      <p:sp>
        <p:nvSpPr>
          <p:cNvPr id="30" name="card"/>
          <p:cNvSpPr/>
          <p:nvPr/>
        </p:nvSpPr>
        <p:spPr>
          <a:xfrm>
            <a:off x="548640" y="4919472"/>
            <a:ext cx="11094415" cy="384048"/>
          </a:xfrm>
          <a:prstGeom prst="roundRect">
            <a:avLst>
              <a:gd name="adj" fmla="val 19048"/>
            </a:avLst>
          </a:prstGeom>
          <a:solidFill>
            <a:srgbClr val="F8FAFC"/>
          </a:solidFill>
          <a:ln w="9525">
            <a:solidFill>
              <a:srgbClr val="E2E8F0"/>
            </a:solidFill>
            <a:prstDash val="solid"/>
          </a:ln>
        </p:spPr>
      </p:sp>
      <p:sp>
        <p:nvSpPr>
          <p:cNvPr id="31" name="Text 28"/>
          <p:cNvSpPr txBox="1"/>
          <p:nvPr/>
        </p:nvSpPr>
        <p:spPr>
          <a:xfrm>
            <a:off x="731520" y="4919472"/>
            <a:ext cx="10728655" cy="384048"/>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Retention:  </a:t>
            </a:r>
            <a:pPr indent="0" marL="0">
              <a:buNone/>
            </a:pPr>
            <a:r>
              <a:rPr lang="en-US" sz="1100" dirty="0">
                <a:solidFill>
                  <a:srgbClr val="1F2937"/>
                </a:solidFill>
                <a:latin typeface="Calibri" pitchFamily="34" charset="0"/>
                <a:ea typeface="Calibri" pitchFamily="34" charset="-122"/>
                <a:cs typeface="Calibri" pitchFamily="34" charset="-120"/>
              </a:rPr>
              <a:t>Dashboard “next step” goals · Opportunity Inbox deadline alerts · new badges · teacher follow-ups</a:t>
            </a:r>
            <a:endParaRPr lang="en-US" sz="1100" dirty="0"/>
          </a:p>
        </p:txBody>
      </p:sp>
      <p:sp>
        <p:nvSpPr>
          <p:cNvPr id="32" name="connector"/>
          <p:cNvSpPr/>
          <p:nvPr/>
        </p:nvSpPr>
        <p:spPr>
          <a:xfrm>
            <a:off x="640080" y="5468112"/>
            <a:ext cx="10911535" cy="914"/>
          </a:xfrm>
          <a:prstGeom prst="line">
            <a:avLst/>
          </a:prstGeom>
          <a:noFill/>
          <a:ln w="38100">
            <a:solidFill>
              <a:srgbClr val="2F5597"/>
            </a:solidFill>
            <a:prstDash val="solid"/>
            <a:tailEnd type="triangle"/>
          </a:ln>
        </p:spPr>
      </p:sp>
      <p:sp>
        <p:nvSpPr>
          <p:cNvPr id="33" name="timeline-stop"/>
          <p:cNvSpPr/>
          <p:nvPr/>
        </p:nvSpPr>
        <p:spPr>
          <a:xfrm>
            <a:off x="731520" y="5349240"/>
            <a:ext cx="237744" cy="237744"/>
          </a:xfrm>
          <a:prstGeom prst="ellipse">
            <a:avLst/>
          </a:prstGeom>
          <a:solidFill>
            <a:srgbClr val="2F5597"/>
          </a:solidFill>
          <a:ln w="19050">
            <a:solidFill>
              <a:srgbClr val="FFFFFF"/>
            </a:solidFill>
            <a:prstDash val="solid"/>
          </a:ln>
        </p:spPr>
      </p:sp>
      <p:sp>
        <p:nvSpPr>
          <p:cNvPr id="34" name="Text 31"/>
          <p:cNvSpPr txBox="1"/>
          <p:nvPr/>
        </p:nvSpPr>
        <p:spPr>
          <a:xfrm>
            <a:off x="731520" y="5650992"/>
            <a:ext cx="3332378" cy="502920"/>
          </a:xfrm>
          <a:prstGeom prst="rect">
            <a:avLst/>
          </a:prstGeom>
          <a:noFill/>
          <a:ln/>
        </p:spPr>
        <p:txBody>
          <a:bodyPr wrap="square" lIns="0" tIns="0" rIns="0" bIns="0" rtlCol="0" anchor="t"/>
          <a:lstStyle/>
          <a:p>
            <a:pPr indent="0" marL="0">
              <a:buNone/>
            </a:pPr>
            <a:r>
              <a:rPr lang="en-US" sz="1000" b="1" dirty="0">
                <a:solidFill>
                  <a:srgbClr val="2F5597"/>
                </a:solidFill>
                <a:latin typeface="Calibri" pitchFamily="34" charset="0"/>
                <a:ea typeface="Calibri" pitchFamily="34" charset="-122"/>
                <a:cs typeface="Calibri" pitchFamily="34" charset="-120"/>
              </a:rPr>
              <a:t>Phase 1 (0–6 months)</a:t>
            </a:r>
            <a:pPr indent="0" marL="0">
              <a:buNone/>
            </a:pPr>
            <a:endParaRPr lang="en-US" sz="1000" dirty="0"/>
          </a:p>
          <a:p>
            <a:pPr indent="0" marL="0">
              <a:buNone/>
            </a:pPr>
            <a:r>
              <a:rPr lang="en-US" sz="1000" dirty="0">
                <a:solidFill>
                  <a:srgbClr val="1F2937"/>
                </a:solidFill>
                <a:latin typeface="Calibri" pitchFamily="34" charset="0"/>
                <a:ea typeface="Calibri" pitchFamily="34" charset="-122"/>
                <a:cs typeface="Calibri" pitchFamily="34" charset="-120"/>
              </a:rPr>
              <a:t>2 tribal districts (Jharkhand, Odisha), 1 NGO partner, ~50 schools/ITIs</a:t>
            </a:r>
            <a:endParaRPr lang="en-US" sz="1000" dirty="0"/>
          </a:p>
        </p:txBody>
      </p:sp>
      <p:sp>
        <p:nvSpPr>
          <p:cNvPr id="35" name="timeline-stop"/>
          <p:cNvSpPr/>
          <p:nvPr/>
        </p:nvSpPr>
        <p:spPr>
          <a:xfrm>
            <a:off x="4429658" y="5349240"/>
            <a:ext cx="237744" cy="237744"/>
          </a:xfrm>
          <a:prstGeom prst="ellipse">
            <a:avLst/>
          </a:prstGeom>
          <a:solidFill>
            <a:srgbClr val="2F5597"/>
          </a:solidFill>
          <a:ln w="19050">
            <a:solidFill>
              <a:srgbClr val="FFFFFF"/>
            </a:solidFill>
            <a:prstDash val="solid"/>
          </a:ln>
        </p:spPr>
      </p:sp>
      <p:sp>
        <p:nvSpPr>
          <p:cNvPr id="36" name="Text 33"/>
          <p:cNvSpPr txBox="1"/>
          <p:nvPr/>
        </p:nvSpPr>
        <p:spPr>
          <a:xfrm>
            <a:off x="4429658" y="5650992"/>
            <a:ext cx="3332378" cy="502920"/>
          </a:xfrm>
          <a:prstGeom prst="rect">
            <a:avLst/>
          </a:prstGeom>
          <a:noFill/>
          <a:ln/>
        </p:spPr>
        <p:txBody>
          <a:bodyPr wrap="square" lIns="0" tIns="0" rIns="0" bIns="0" rtlCol="0" anchor="t"/>
          <a:lstStyle/>
          <a:p>
            <a:pPr indent="0" marL="0">
              <a:buNone/>
            </a:pPr>
            <a:r>
              <a:rPr lang="en-US" sz="1000" b="1" dirty="0">
                <a:solidFill>
                  <a:srgbClr val="2F5597"/>
                </a:solidFill>
                <a:latin typeface="Calibri" pitchFamily="34" charset="0"/>
                <a:ea typeface="Calibri" pitchFamily="34" charset="-122"/>
                <a:cs typeface="Calibri" pitchFamily="34" charset="-120"/>
              </a:rPr>
              <a:t>Phase 2 (6–18 months)</a:t>
            </a:r>
            <a:pPr indent="0" marL="0">
              <a:buNone/>
            </a:pPr>
            <a:endParaRPr lang="en-US" sz="1000" dirty="0"/>
          </a:p>
          <a:p>
            <a:pPr indent="0" marL="0">
              <a:buNone/>
            </a:pPr>
            <a:r>
              <a:rPr lang="en-US" sz="1000" dirty="0">
                <a:solidFill>
                  <a:srgbClr val="1F2937"/>
                </a:solidFill>
                <a:latin typeface="Calibri" pitchFamily="34" charset="0"/>
                <a:ea typeface="Calibri" pitchFamily="34" charset="-122"/>
                <a:cs typeface="Calibri" pitchFamily="34" charset="-120"/>
              </a:rPr>
              <a:t>One state skill-mission partnership</a:t>
            </a:r>
            <a:endParaRPr lang="en-US" sz="1000" dirty="0"/>
          </a:p>
        </p:txBody>
      </p:sp>
      <p:sp>
        <p:nvSpPr>
          <p:cNvPr id="37" name="timeline-stop"/>
          <p:cNvSpPr/>
          <p:nvPr/>
        </p:nvSpPr>
        <p:spPr>
          <a:xfrm>
            <a:off x="8127797" y="5349240"/>
            <a:ext cx="237744" cy="237744"/>
          </a:xfrm>
          <a:prstGeom prst="ellipse">
            <a:avLst/>
          </a:prstGeom>
          <a:solidFill>
            <a:srgbClr val="2F5597"/>
          </a:solidFill>
          <a:ln w="19050">
            <a:solidFill>
              <a:srgbClr val="FFFFFF"/>
            </a:solidFill>
            <a:prstDash val="solid"/>
          </a:ln>
        </p:spPr>
      </p:sp>
      <p:sp>
        <p:nvSpPr>
          <p:cNvPr id="38" name="Text 35"/>
          <p:cNvSpPr txBox="1"/>
          <p:nvPr/>
        </p:nvSpPr>
        <p:spPr>
          <a:xfrm>
            <a:off x="8127797" y="5650992"/>
            <a:ext cx="3332378" cy="502920"/>
          </a:xfrm>
          <a:prstGeom prst="rect">
            <a:avLst/>
          </a:prstGeom>
          <a:noFill/>
          <a:ln/>
        </p:spPr>
        <p:txBody>
          <a:bodyPr wrap="square" lIns="0" tIns="0" rIns="0" bIns="0" rtlCol="0" anchor="t"/>
          <a:lstStyle/>
          <a:p>
            <a:pPr indent="0" marL="0">
              <a:buNone/>
            </a:pPr>
            <a:r>
              <a:rPr lang="en-US" sz="1000" b="1" dirty="0">
                <a:solidFill>
                  <a:srgbClr val="2F5597"/>
                </a:solidFill>
                <a:latin typeface="Calibri" pitchFamily="34" charset="0"/>
                <a:ea typeface="Calibri" pitchFamily="34" charset="-122"/>
                <a:cs typeface="Calibri" pitchFamily="34" charset="-120"/>
              </a:rPr>
              <a:t>Phase 3 (18+ months)</a:t>
            </a:r>
            <a:pPr indent="0" marL="0">
              <a:buNone/>
            </a:pPr>
            <a:endParaRPr lang="en-US" sz="1000" dirty="0"/>
          </a:p>
          <a:p>
            <a:pPr indent="0" marL="0">
              <a:buNone/>
            </a:pPr>
            <a:r>
              <a:rPr lang="en-US" sz="1000" dirty="0">
                <a:solidFill>
                  <a:srgbClr val="1F2937"/>
                </a:solidFill>
                <a:latin typeface="Calibri" pitchFamily="34" charset="0"/>
                <a:ea typeface="Calibri" pitchFamily="34" charset="-122"/>
                <a:cs typeface="Calibri" pitchFamily="34" charset="-120"/>
              </a:rPr>
              <a:t>Multi-state, CSR-funded, open-API partners</a:t>
            </a:r>
            <a:endParaRPr lang="en-US" sz="1000" dirty="0"/>
          </a:p>
        </p:txBody>
      </p:sp>
      <p:sp>
        <p:nvSpPr>
          <p:cNvPr id="39" name="Text 36"/>
          <p:cNvSpPr txBox="1"/>
          <p:nvPr/>
        </p:nvSpPr>
        <p:spPr>
          <a:xfrm>
            <a:off x="548640" y="6199632"/>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NITI Aayog ITI study (2023); MoRD / Lok Sabha reply on DAY-NRLM (Jan 2025); Rajya Sabha reply on CSCs (Mar 2025); National CSR Portal FY23; ASER 2023.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legend-strip"/>
          <p:cNvSpPr/>
          <p:nvPr/>
        </p:nvSpPr>
        <p:spPr>
          <a:xfrm>
            <a:off x="0" y="0"/>
            <a:ext cx="201168" cy="6858000"/>
          </a:xfrm>
          <a:prstGeom prst="rect">
            <a:avLst/>
          </a:prstGeom>
          <a:solidFill>
            <a:srgbClr val="C00000"/>
          </a:solidFill>
          <a:ln w="12700">
            <a:solidFill>
              <a:srgbClr val="C00000"/>
            </a:solidFill>
            <a:prstDash val="solid"/>
          </a:ln>
        </p:spPr>
      </p:sp>
      <p:sp>
        <p:nvSpPr>
          <p:cNvPr id="3" name="Text 1"/>
          <p:cNvSpPr txBox="1"/>
          <p:nvPr/>
        </p:nvSpPr>
        <p:spPr>
          <a:xfrm>
            <a:off x="548640" y="274320"/>
            <a:ext cx="9326880" cy="548640"/>
          </a:xfrm>
          <a:prstGeom prst="rect">
            <a:avLst/>
          </a:prstGeom>
          <a:noFill/>
          <a:ln/>
        </p:spPr>
        <p:txBody>
          <a:bodyPr wrap="square" lIns="0" tIns="0" rIns="0" bIns="0" rtlCol="0" anchor="ctr"/>
          <a:lstStyle/>
          <a:p>
            <a:pPr indent="0" marL="0">
              <a:buNone/>
            </a:pPr>
            <a:r>
              <a:rPr lang="en-US" sz="3200" b="1" dirty="0">
                <a:solidFill>
                  <a:srgbClr val="1F2937"/>
                </a:solidFill>
                <a:latin typeface="Calibri" pitchFamily="34" charset="0"/>
                <a:ea typeface="Calibri" pitchFamily="34" charset="-122"/>
                <a:cs typeface="Calibri" pitchFamily="34" charset="-120"/>
              </a:rPr>
              <a:t>Customer Segments</a:t>
            </a:r>
            <a:endParaRPr lang="en-US" sz="3200" dirty="0"/>
          </a:p>
        </p:txBody>
      </p:sp>
      <p:sp>
        <p:nvSpPr>
          <p:cNvPr id="4" name="logo-mark"/>
          <p:cNvSpPr/>
          <p:nvPr/>
        </p:nvSpPr>
        <p:spPr>
          <a:xfrm>
            <a:off x="10104120" y="329184"/>
            <a:ext cx="438912" cy="438912"/>
          </a:xfrm>
          <a:prstGeom prst="roundRect">
            <a:avLst>
              <a:gd name="adj" fmla="val 12500"/>
            </a:avLst>
          </a:prstGeom>
          <a:solidFill>
            <a:srgbClr val="1E3A8A"/>
          </a:solidFill>
          <a:ln w="12700">
            <a:solidFill>
              <a:srgbClr val="1E3A8A"/>
            </a:solidFill>
            <a:prstDash val="solid"/>
          </a:ln>
        </p:spPr>
      </p:sp>
      <p:sp>
        <p:nvSpPr>
          <p:cNvPr id="5" name="Text 3"/>
          <p:cNvSpPr txBox="1"/>
          <p:nvPr/>
        </p:nvSpPr>
        <p:spPr>
          <a:xfrm>
            <a:off x="10104120" y="3291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ES</a:t>
            </a:r>
            <a:endParaRPr lang="en-US" sz="1400" dirty="0"/>
          </a:p>
        </p:txBody>
      </p:sp>
      <p:sp>
        <p:nvSpPr>
          <p:cNvPr id="6" name="Text 4"/>
          <p:cNvSpPr txBox="1"/>
          <p:nvPr/>
        </p:nvSpPr>
        <p:spPr>
          <a:xfrm>
            <a:off x="10607040" y="329184"/>
            <a:ext cx="1097280" cy="438912"/>
          </a:xfrm>
          <a:prstGeom prst="rect">
            <a:avLst/>
          </a:prstGeom>
          <a:noFill/>
          <a:ln/>
        </p:spPr>
        <p:txBody>
          <a:bodyPr wrap="square" lIns="0" tIns="0" rIns="0" bIns="0"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Yukti</a:t>
            </a:r>
            <a:endParaRPr lang="en-US" sz="1400" dirty="0"/>
          </a:p>
        </p:txBody>
      </p:sp>
      <p:sp>
        <p:nvSpPr>
          <p:cNvPr id="7" name="Text 5"/>
          <p:cNvSpPr txBox="1"/>
          <p:nvPr/>
        </p:nvSpPr>
        <p:spPr>
          <a:xfrm>
            <a:off x="548640" y="841248"/>
            <a:ext cx="11094415" cy="347472"/>
          </a:xfrm>
          <a:prstGeom prst="rect">
            <a:avLst/>
          </a:prstGeom>
          <a:noFill/>
          <a:ln/>
        </p:spPr>
        <p:txBody>
          <a:bodyPr wrap="square" lIns="0" tIns="0" rIns="0" bIns="0" rtlCol="0" anchor="t"/>
          <a:lstStyle/>
          <a:p>
            <a:pPr indent="0" marL="0">
              <a:buNone/>
            </a:pPr>
            <a:r>
              <a:rPr lang="en-US" sz="1200" i="1" dirty="0">
                <a:solidFill>
                  <a:srgbClr val="64748B"/>
                </a:solidFill>
                <a:latin typeface="Calibri" pitchFamily="34" charset="0"/>
                <a:ea typeface="Calibri" pitchFamily="34" charset="-122"/>
                <a:cs typeface="Calibri" pitchFamily="34" charset="-120"/>
              </a:rPr>
              <a:t>Your customers are the heart of every business. Define your target audience and identify early adopters (distinguishing users from actual payers).</a:t>
            </a:r>
            <a:endParaRPr lang="en-US" sz="1200" dirty="0"/>
          </a:p>
        </p:txBody>
      </p:sp>
      <p:sp>
        <p:nvSpPr>
          <p:cNvPr id="8" name="Text 6"/>
          <p:cNvSpPr txBox="1"/>
          <p:nvPr/>
        </p:nvSpPr>
        <p:spPr>
          <a:xfrm>
            <a:off x="548640" y="1207008"/>
            <a:ext cx="11094415" cy="621792"/>
          </a:xfrm>
          <a:prstGeom prst="rect">
            <a:avLst/>
          </a:prstGeom>
          <a:noFill/>
          <a:ln/>
        </p:spPr>
        <p:txBody>
          <a:bodyPr wrap="square" lIns="0" tIns="0" rIns="0" bIns="0" rtlCol="0" anchor="t"/>
          <a:lstStyle/>
          <a:p>
            <a:pPr indent="0" marL="0">
              <a:buNone/>
            </a:pPr>
            <a:r>
              <a:rPr lang="en-US" sz="1800" b="1" dirty="0">
                <a:solidFill>
                  <a:srgbClr val="1E3A8A"/>
                </a:solidFill>
                <a:latin typeface="Calibri" pitchFamily="34" charset="0"/>
                <a:ea typeface="Calibri" pitchFamily="34" charset="-122"/>
                <a:cs typeface="Calibri" pitchFamily="34" charset="-120"/>
              </a:rPr>
              <a:t>Students and teachers use it free; the organisations that need skilled rural talent pay.</a:t>
            </a:r>
            <a:endParaRPr lang="en-US" sz="1800" dirty="0"/>
          </a:p>
        </p:txBody>
      </p:sp>
      <p:sp>
        <p:nvSpPr>
          <p:cNvPr id="9" name="Text 7"/>
          <p:cNvSpPr txBox="1"/>
          <p:nvPr/>
        </p:nvSpPr>
        <p:spPr>
          <a:xfrm>
            <a:off x="548640" y="6473952"/>
            <a:ext cx="5486400" cy="256032"/>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Yukti · Learning to Livelihood</a:t>
            </a:r>
            <a:endParaRPr lang="en-US" sz="1000" dirty="0"/>
          </a:p>
        </p:txBody>
      </p:sp>
      <p:sp>
        <p:nvSpPr>
          <p:cNvPr id="10" name="Text 8"/>
          <p:cNvSpPr txBox="1"/>
          <p:nvPr/>
        </p:nvSpPr>
        <p:spPr>
          <a:xfrm>
            <a:off x="7985455" y="6473952"/>
            <a:ext cx="3657600" cy="256032"/>
          </a:xfrm>
          <a:prstGeom prst="rect">
            <a:avLst/>
          </a:prstGeom>
          <a:noFill/>
          <a:ln/>
        </p:spPr>
        <p:txBody>
          <a:bodyPr wrap="square" lIns="0" tIns="0" rIns="0" bIns="0"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[Team Name] · 9/9</a:t>
            </a:r>
            <a:endParaRPr lang="en-US" sz="1000" dirty="0"/>
          </a:p>
        </p:txBody>
      </p:sp>
      <p:sp>
        <p:nvSpPr>
          <p:cNvPr id="12" name="card"/>
          <p:cNvSpPr/>
          <p:nvPr/>
        </p:nvSpPr>
        <p:spPr>
          <a:xfrm>
            <a:off x="548640" y="1810512"/>
            <a:ext cx="3576218" cy="502920"/>
          </a:xfrm>
          <a:prstGeom prst="roundRect">
            <a:avLst>
              <a:gd name="adj" fmla="val 14545"/>
            </a:avLst>
          </a:prstGeom>
          <a:solidFill>
            <a:srgbClr val="FEF2F2"/>
          </a:solidFill>
          <a:ln w="9525">
            <a:solidFill>
              <a:srgbClr val="FECACA"/>
            </a:solidFill>
            <a:prstDash val="solid"/>
          </a:ln>
        </p:spPr>
      </p:sp>
      <p:sp>
        <p:nvSpPr>
          <p:cNvPr id="13" name="Text 10"/>
          <p:cNvSpPr txBox="1"/>
          <p:nvPr/>
        </p:nvSpPr>
        <p:spPr>
          <a:xfrm>
            <a:off x="685800" y="1810512"/>
            <a:ext cx="3301898" cy="50292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253 million</a:t>
            </a:r>
            <a:pPr indent="0" marL="0">
              <a:buNone/>
            </a:pPr>
            <a:r>
              <a:rPr lang="en-US" sz="950" dirty="0">
                <a:solidFill>
                  <a:srgbClr val="1F2937"/>
                </a:solidFill>
                <a:latin typeface="Calibri" pitchFamily="34" charset="0"/>
                <a:ea typeface="Calibri" pitchFamily="34" charset="-122"/>
                <a:cs typeface="Calibri" pitchFamily="34" charset="-120"/>
              </a:rPr>
              <a:t>  adolescents aged 10–19, the world’s largest</a:t>
            </a:r>
            <a:endParaRPr lang="en-US" sz="1600" dirty="0"/>
          </a:p>
        </p:txBody>
      </p:sp>
      <p:sp>
        <p:nvSpPr>
          <p:cNvPr id="14" name="card"/>
          <p:cNvSpPr/>
          <p:nvPr/>
        </p:nvSpPr>
        <p:spPr>
          <a:xfrm>
            <a:off x="4307738" y="1810512"/>
            <a:ext cx="3576218" cy="502920"/>
          </a:xfrm>
          <a:prstGeom prst="roundRect">
            <a:avLst>
              <a:gd name="adj" fmla="val 14545"/>
            </a:avLst>
          </a:prstGeom>
          <a:solidFill>
            <a:srgbClr val="FEF2F2"/>
          </a:solidFill>
          <a:ln w="9525">
            <a:solidFill>
              <a:srgbClr val="FECACA"/>
            </a:solidFill>
            <a:prstDash val="solid"/>
          </a:ln>
        </p:spPr>
      </p:sp>
      <p:sp>
        <p:nvSpPr>
          <p:cNvPr id="15" name="Text 12"/>
          <p:cNvSpPr txBox="1"/>
          <p:nvPr/>
        </p:nvSpPr>
        <p:spPr>
          <a:xfrm>
            <a:off x="4444898" y="1810512"/>
            <a:ext cx="3301898" cy="50292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~69%</a:t>
            </a:r>
            <a:pPr indent="0" marL="0">
              <a:buNone/>
            </a:pPr>
            <a:r>
              <a:rPr lang="en-US" sz="950" dirty="0">
                <a:solidFill>
                  <a:srgbClr val="1F2937"/>
                </a:solidFill>
                <a:latin typeface="Calibri" pitchFamily="34" charset="0"/>
                <a:ea typeface="Calibri" pitchFamily="34" charset="-122"/>
                <a:cs typeface="Calibri" pitchFamily="34" charset="-120"/>
              </a:rPr>
              <a:t>  of India is rural</a:t>
            </a:r>
            <a:endParaRPr lang="en-US" sz="1600" dirty="0"/>
          </a:p>
        </p:txBody>
      </p:sp>
      <p:sp>
        <p:nvSpPr>
          <p:cNvPr id="16" name="card"/>
          <p:cNvSpPr/>
          <p:nvPr/>
        </p:nvSpPr>
        <p:spPr>
          <a:xfrm>
            <a:off x="8066837" y="1810512"/>
            <a:ext cx="3576218" cy="502920"/>
          </a:xfrm>
          <a:prstGeom prst="roundRect">
            <a:avLst>
              <a:gd name="adj" fmla="val 14545"/>
            </a:avLst>
          </a:prstGeom>
          <a:solidFill>
            <a:srgbClr val="FEF2F2"/>
          </a:solidFill>
          <a:ln w="9525">
            <a:solidFill>
              <a:srgbClr val="FECACA"/>
            </a:solidFill>
            <a:prstDash val="solid"/>
          </a:ln>
        </p:spPr>
      </p:sp>
      <p:sp>
        <p:nvSpPr>
          <p:cNvPr id="17" name="Text 14"/>
          <p:cNvSpPr txBox="1"/>
          <p:nvPr/>
        </p:nvSpPr>
        <p:spPr>
          <a:xfrm>
            <a:off x="8203997" y="1810512"/>
            <a:ext cx="3301898" cy="50292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~17 crore</a:t>
            </a:r>
            <a:pPr indent="0" marL="0">
              <a:buNone/>
            </a:pPr>
            <a:r>
              <a:rPr lang="en-US" sz="950" dirty="0">
                <a:solidFill>
                  <a:srgbClr val="1F2937"/>
                </a:solidFill>
                <a:latin typeface="Calibri" pitchFamily="34" charset="0"/>
                <a:ea typeface="Calibri" pitchFamily="34" charset="-122"/>
                <a:cs typeface="Calibri" pitchFamily="34" charset="-120"/>
              </a:rPr>
              <a:t>  rural adolescents (illustrative calculation)</a:t>
            </a:r>
            <a:endParaRPr lang="en-US" sz="1600" dirty="0"/>
          </a:p>
        </p:txBody>
      </p:sp>
      <p:sp>
        <p:nvSpPr>
          <p:cNvPr id="18" name="card"/>
          <p:cNvSpPr/>
          <p:nvPr/>
        </p:nvSpPr>
        <p:spPr>
          <a:xfrm>
            <a:off x="548640" y="2423160"/>
            <a:ext cx="5227168" cy="2121408"/>
          </a:xfrm>
          <a:prstGeom prst="roundRect">
            <a:avLst>
              <a:gd name="adj" fmla="val 3448"/>
            </a:avLst>
          </a:prstGeom>
          <a:solidFill>
            <a:srgbClr val="EEF2FF"/>
          </a:solidFill>
          <a:ln w="9525">
            <a:solidFill>
              <a:srgbClr val="EEF2FF"/>
            </a:solidFill>
            <a:prstDash val="solid"/>
          </a:ln>
        </p:spPr>
      </p:sp>
      <p:sp>
        <p:nvSpPr>
          <p:cNvPr id="19" name="col-header"/>
          <p:cNvSpPr/>
          <p:nvPr/>
        </p:nvSpPr>
        <p:spPr>
          <a:xfrm>
            <a:off x="548640" y="2423160"/>
            <a:ext cx="5227168" cy="365760"/>
          </a:xfrm>
          <a:prstGeom prst="roundRect">
            <a:avLst>
              <a:gd name="adj" fmla="val 20000"/>
            </a:avLst>
          </a:prstGeom>
          <a:solidFill>
            <a:srgbClr val="1E3A8A"/>
          </a:solidFill>
          <a:ln w="12700">
            <a:solidFill>
              <a:srgbClr val="1E3A8A"/>
            </a:solidFill>
            <a:prstDash val="solid"/>
          </a:ln>
        </p:spPr>
      </p:sp>
      <p:sp>
        <p:nvSpPr>
          <p:cNvPr id="20" name="Text 17"/>
          <p:cNvSpPr txBox="1"/>
          <p:nvPr/>
        </p:nvSpPr>
        <p:spPr>
          <a:xfrm>
            <a:off x="685800" y="2423160"/>
            <a:ext cx="4952848"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USERS (always free)</a:t>
            </a:r>
            <a:endParaRPr lang="en-US" sz="1200" dirty="0"/>
          </a:p>
        </p:txBody>
      </p:sp>
      <p:sp>
        <p:nvSpPr>
          <p:cNvPr id="21" name="Text 18"/>
          <p:cNvSpPr txBox="1"/>
          <p:nvPr/>
        </p:nvSpPr>
        <p:spPr>
          <a:xfrm>
            <a:off x="685800" y="2862072"/>
            <a:ext cx="4952848" cy="1618488"/>
          </a:xfrm>
          <a:prstGeom prst="rect">
            <a:avLst/>
          </a:prstGeom>
          <a:noFill/>
          <a:ln/>
        </p:spPr>
        <p:txBody>
          <a:bodyPr wrap="square" lIns="0" tIns="0" rIns="0" bIns="0" rtlCol="0" anchor="t"/>
          <a:lstStyle/>
          <a:p>
            <a:pPr indent="0" marL="0">
              <a:spcAft>
                <a:spcPts val="800"/>
              </a:spcAft>
              <a:buNone/>
            </a:pPr>
            <a:r>
              <a:rPr lang="en-US" sz="1150" b="1" dirty="0">
                <a:solidFill>
                  <a:srgbClr val="1F2937"/>
                </a:solidFill>
                <a:latin typeface="Calibri" pitchFamily="34" charset="0"/>
                <a:ea typeface="Calibri" pitchFamily="34" charset="-122"/>
                <a:cs typeface="Calibri" pitchFamily="34" charset="-120"/>
              </a:rPr>
              <a:t>🎒 Rural students, Class 9 to graduation</a:t>
            </a:r>
            <a:pPr indent="0" marL="0">
              <a:spcAft>
                <a:spcPts val="800"/>
              </a:spcAft>
              <a:buNone/>
            </a:pPr>
            <a:r>
              <a:rPr lang="en-US" sz="1150" dirty="0">
                <a:solidFill>
                  <a:srgbClr val="1F2937"/>
                </a:solidFill>
                <a:latin typeface="Calibri" pitchFamily="34" charset="0"/>
                <a:ea typeface="Calibri" pitchFamily="34" charset="-122"/>
                <a:cs typeface="Calibri" pitchFamily="34" charset="-120"/>
              </a:rPr>
              <a:t>: first-generation learners, low data, local language</a:t>
            </a:r>
            <a:endParaRPr lang="en-US" sz="1150" dirty="0"/>
          </a:p>
          <a:p>
            <a:pPr indent="0" marL="0">
              <a:spcAft>
                <a:spcPts val="800"/>
              </a:spcAft>
              <a:buNone/>
            </a:pPr>
            <a:r>
              <a:rPr lang="en-US" sz="1150" b="1" dirty="0">
                <a:solidFill>
                  <a:srgbClr val="1F2937"/>
                </a:solidFill>
                <a:latin typeface="Calibri" pitchFamily="34" charset="0"/>
                <a:ea typeface="Calibri" pitchFamily="34" charset="-122"/>
                <a:cs typeface="Calibri" pitchFamily="34" charset="-120"/>
              </a:rPr>
              <a:t>🧑‍🏫 Village teachers &amp; ITI instructors</a:t>
            </a:r>
            <a:pPr indent="0" marL="0">
              <a:spcAft>
                <a:spcPts val="800"/>
              </a:spcAft>
              <a:buNone/>
            </a:pPr>
            <a:r>
              <a:rPr lang="en-US" sz="1150" dirty="0">
                <a:solidFill>
                  <a:srgbClr val="1F2937"/>
                </a:solidFill>
                <a:latin typeface="Calibri" pitchFamily="34" charset="0"/>
                <a:ea typeface="Calibri" pitchFamily="34" charset="-122"/>
                <a:cs typeface="Calibri" pitchFamily="34" charset="-120"/>
              </a:rPr>
              <a:t>: guide many students; earn from their own modules</a:t>
            </a:r>
            <a:endParaRPr lang="en-US" sz="1150" dirty="0"/>
          </a:p>
          <a:p>
            <a:pPr indent="0" marL="0">
              <a:spcAft>
                <a:spcPts val="800"/>
              </a:spcAft>
              <a:buNone/>
            </a:pPr>
            <a:r>
              <a:rPr lang="en-US" sz="1150" b="1" dirty="0">
                <a:solidFill>
                  <a:srgbClr val="1F2937"/>
                </a:solidFill>
                <a:latin typeface="Calibri" pitchFamily="34" charset="0"/>
                <a:ea typeface="Calibri" pitchFamily="34" charset="-122"/>
                <a:cs typeface="Calibri" pitchFamily="34" charset="-120"/>
              </a:rPr>
              <a:t>👨‍👩‍👧 Parents &amp; families</a:t>
            </a:r>
            <a:pPr indent="0" marL="0">
              <a:spcAft>
                <a:spcPts val="800"/>
              </a:spcAft>
              <a:buNone/>
            </a:pPr>
            <a:r>
              <a:rPr lang="en-US" sz="1150" dirty="0">
                <a:solidFill>
                  <a:srgbClr val="1F2937"/>
                </a:solidFill>
                <a:latin typeface="Calibri" pitchFamily="34" charset="0"/>
                <a:ea typeface="Calibri" pitchFamily="34" charset="-122"/>
                <a:cs typeface="Calibri" pitchFamily="34" charset="-120"/>
              </a:rPr>
              <a:t>: decision-makers reached through Parent Pitch</a:t>
            </a:r>
            <a:endParaRPr lang="en-US" sz="1150" dirty="0"/>
          </a:p>
          <a:p>
            <a:pPr indent="0" marL="0">
              <a:spcAft>
                <a:spcPts val="800"/>
              </a:spcAft>
              <a:buNone/>
            </a:pPr>
            <a:r>
              <a:rPr lang="en-US" sz="1150" b="1" dirty="0">
                <a:solidFill>
                  <a:srgbClr val="1F2937"/>
                </a:solidFill>
                <a:latin typeface="Calibri" pitchFamily="34" charset="0"/>
                <a:ea typeface="Calibri" pitchFamily="34" charset="-122"/>
                <a:cs typeface="Calibri" pitchFamily="34" charset="-120"/>
              </a:rPr>
              <a:t>🙋 Alumni mentors (Didi/Bhaiya)</a:t>
            </a:r>
            <a:pPr indent="0" marL="0">
              <a:spcAft>
                <a:spcPts val="800"/>
              </a:spcAft>
              <a:buNone/>
            </a:pPr>
            <a:r>
              <a:rPr lang="en-US" sz="1150" dirty="0">
                <a:solidFill>
                  <a:srgbClr val="1F2937"/>
                </a:solidFill>
                <a:latin typeface="Calibri" pitchFamily="34" charset="0"/>
                <a:ea typeface="Calibri" pitchFamily="34" charset="-122"/>
                <a:cs typeface="Calibri" pitchFamily="34" charset="-120"/>
              </a:rPr>
              <a:t>: share stories, answer questions</a:t>
            </a:r>
            <a:endParaRPr lang="en-US" sz="1150" dirty="0"/>
          </a:p>
        </p:txBody>
      </p:sp>
      <p:sp>
        <p:nvSpPr>
          <p:cNvPr id="22" name="card"/>
          <p:cNvSpPr/>
          <p:nvPr/>
        </p:nvSpPr>
        <p:spPr>
          <a:xfrm>
            <a:off x="6415888" y="2423160"/>
            <a:ext cx="5227168" cy="2121408"/>
          </a:xfrm>
          <a:prstGeom prst="roundRect">
            <a:avLst>
              <a:gd name="adj" fmla="val 3448"/>
            </a:avLst>
          </a:prstGeom>
          <a:solidFill>
            <a:srgbClr val="FEF2F2"/>
          </a:solidFill>
          <a:ln w="9525">
            <a:solidFill>
              <a:srgbClr val="FEF2F2"/>
            </a:solidFill>
            <a:prstDash val="solid"/>
          </a:ln>
        </p:spPr>
      </p:sp>
      <p:sp>
        <p:nvSpPr>
          <p:cNvPr id="23" name="col-header"/>
          <p:cNvSpPr/>
          <p:nvPr/>
        </p:nvSpPr>
        <p:spPr>
          <a:xfrm>
            <a:off x="6415888" y="2423160"/>
            <a:ext cx="5227168" cy="365760"/>
          </a:xfrm>
          <a:prstGeom prst="roundRect">
            <a:avLst>
              <a:gd name="adj" fmla="val 20000"/>
            </a:avLst>
          </a:prstGeom>
          <a:solidFill>
            <a:srgbClr val="C00000"/>
          </a:solidFill>
          <a:ln w="12700">
            <a:solidFill>
              <a:srgbClr val="C00000"/>
            </a:solidFill>
            <a:prstDash val="solid"/>
          </a:ln>
        </p:spPr>
      </p:sp>
      <p:sp>
        <p:nvSpPr>
          <p:cNvPr id="24" name="Text 21"/>
          <p:cNvSpPr txBox="1"/>
          <p:nvPr/>
        </p:nvSpPr>
        <p:spPr>
          <a:xfrm>
            <a:off x="6553048" y="2423160"/>
            <a:ext cx="4952848"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PAYERS</a:t>
            </a:r>
            <a:endParaRPr lang="en-US" sz="1200" dirty="0"/>
          </a:p>
        </p:txBody>
      </p:sp>
      <p:sp>
        <p:nvSpPr>
          <p:cNvPr id="25" name="Text 22"/>
          <p:cNvSpPr txBox="1"/>
          <p:nvPr/>
        </p:nvSpPr>
        <p:spPr>
          <a:xfrm>
            <a:off x="6553048" y="2862072"/>
            <a:ext cx="4952848" cy="1618488"/>
          </a:xfrm>
          <a:prstGeom prst="rect">
            <a:avLst/>
          </a:prstGeom>
          <a:noFill/>
          <a:ln/>
        </p:spPr>
        <p:txBody>
          <a:bodyPr wrap="square" lIns="0" tIns="0" rIns="0" bIns="0" rtlCol="0" anchor="t"/>
          <a:lstStyle/>
          <a:p>
            <a:pPr indent="0" marL="0">
              <a:spcAft>
                <a:spcPts val="300"/>
              </a:spcAft>
              <a:buNone/>
            </a:pPr>
            <a:r>
              <a:rPr lang="en-US" sz="1000" b="1" dirty="0">
                <a:solidFill>
                  <a:srgbClr val="1F2937"/>
                </a:solidFill>
                <a:latin typeface="Calibri" pitchFamily="34" charset="0"/>
                <a:ea typeface="Calibri" pitchFamily="34" charset="-122"/>
                <a:cs typeface="Calibri" pitchFamily="34" charset="-120"/>
              </a:rPr>
              <a:t>🏢 CSR programmes &amp; NGOs</a:t>
            </a:r>
            <a:pPr indent="0" marL="0">
              <a:spcAft>
                <a:spcPts val="300"/>
              </a:spcAft>
              <a:buNone/>
            </a:pPr>
            <a:r>
              <a:rPr lang="en-US" sz="1000" dirty="0">
                <a:solidFill>
                  <a:srgbClr val="1F2937"/>
                </a:solidFill>
                <a:latin typeface="Calibri" pitchFamily="34" charset="0"/>
                <a:ea typeface="Calibri" pitchFamily="34" charset="-122"/>
                <a:cs typeface="Calibri" pitchFamily="34" charset="-120"/>
              </a:rPr>
              <a:t>: ₹10,085 crore CSR spend on education in FY23; sponsor cohorts and modules</a:t>
            </a:r>
            <a:endParaRPr lang="en-US" sz="1000" dirty="0"/>
          </a:p>
          <a:p>
            <a:pPr indent="0" marL="0">
              <a:spcAft>
                <a:spcPts val="300"/>
              </a:spcAft>
              <a:buNone/>
            </a:pPr>
            <a:r>
              <a:rPr lang="en-US" sz="1000" b="1" dirty="0">
                <a:solidFill>
                  <a:srgbClr val="1F2937"/>
                </a:solidFill>
                <a:latin typeface="Calibri" pitchFamily="34" charset="0"/>
                <a:ea typeface="Calibri" pitchFamily="34" charset="-122"/>
                <a:cs typeface="Calibri" pitchFamily="34" charset="-120"/>
              </a:rPr>
              <a:t>💼 Employers &amp; apprenticeship establishments</a:t>
            </a:r>
            <a:pPr indent="0" marL="0">
              <a:spcAft>
                <a:spcPts val="300"/>
              </a:spcAft>
              <a:buNone/>
            </a:pPr>
            <a:r>
              <a:rPr lang="en-US" sz="1000" dirty="0">
                <a:solidFill>
                  <a:srgbClr val="1F2937"/>
                </a:solidFill>
                <a:latin typeface="Calibri" pitchFamily="34" charset="0"/>
                <a:ea typeface="Calibri" pitchFamily="34" charset="-122"/>
                <a:cs typeface="Calibri" pitchFamily="34" charset="-120"/>
              </a:rPr>
              <a:t>: pay most of the stipend (govt support capped at 25%, max ₹1,500/month); pay per listing or hire</a:t>
            </a:r>
            <a:endParaRPr lang="en-US" sz="1000" dirty="0"/>
          </a:p>
          <a:p>
            <a:pPr indent="0" marL="0">
              <a:spcAft>
                <a:spcPts val="300"/>
              </a:spcAft>
              <a:buNone/>
            </a:pPr>
            <a:r>
              <a:rPr lang="en-US" sz="1000" b="1" dirty="0">
                <a:solidFill>
                  <a:srgbClr val="1F2937"/>
                </a:solidFill>
                <a:latin typeface="Calibri" pitchFamily="34" charset="0"/>
                <a:ea typeface="Calibri" pitchFamily="34" charset="-122"/>
                <a:cs typeface="Calibri" pitchFamily="34" charset="-120"/>
              </a:rPr>
              <a:t>☀ Training partners (PMKVY, Suryamitra, ITIs)</a:t>
            </a:r>
            <a:pPr indent="0" marL="0">
              <a:spcAft>
                <a:spcPts val="300"/>
              </a:spcAft>
              <a:buNone/>
            </a:pPr>
            <a:r>
              <a:rPr lang="en-US" sz="1000" dirty="0">
                <a:solidFill>
                  <a:srgbClr val="1F2937"/>
                </a:solidFill>
                <a:latin typeface="Calibri" pitchFamily="34" charset="0"/>
                <a:ea typeface="Calibri" pitchFamily="34" charset="-122"/>
                <a:cs typeface="Calibri" pitchFamily="34" charset="-120"/>
              </a:rPr>
              <a:t>: need eligible candidates (ITI seats 48% filled); pay per qualified enrolment</a:t>
            </a:r>
            <a:endParaRPr lang="en-US" sz="1000" dirty="0"/>
          </a:p>
          <a:p>
            <a:pPr indent="0" marL="0">
              <a:spcAft>
                <a:spcPts val="300"/>
              </a:spcAft>
              <a:buNone/>
            </a:pPr>
            <a:r>
              <a:rPr lang="en-US" sz="1000" b="1" dirty="0">
                <a:solidFill>
                  <a:srgbClr val="1F2937"/>
                </a:solidFill>
                <a:latin typeface="Calibri" pitchFamily="34" charset="0"/>
                <a:ea typeface="Calibri" pitchFamily="34" charset="-122"/>
                <a:cs typeface="Calibri" pitchFamily="34" charset="-120"/>
              </a:rPr>
              <a:t>🏛 State skill missions &amp; district administrations</a:t>
            </a:r>
            <a:pPr indent="0" marL="0">
              <a:spcAft>
                <a:spcPts val="300"/>
              </a:spcAft>
              <a:buNone/>
            </a:pPr>
            <a:r>
              <a:rPr lang="en-US" sz="1000" dirty="0">
                <a:solidFill>
                  <a:srgbClr val="1F2937"/>
                </a:solidFill>
                <a:latin typeface="Calibri" pitchFamily="34" charset="0"/>
                <a:ea typeface="Calibri" pitchFamily="34" charset="-122"/>
                <a:cs typeface="Calibri" pitchFamily="34" charset="-120"/>
              </a:rPr>
              <a:t>: annual licence + district skill-gap analytics</a:t>
            </a:r>
            <a:endParaRPr lang="en-US" sz="1000" dirty="0"/>
          </a:p>
          <a:p>
            <a:pPr indent="0" marL="0">
              <a:spcAft>
                <a:spcPts val="300"/>
              </a:spcAft>
              <a:buNone/>
            </a:pPr>
            <a:r>
              <a:rPr lang="en-US" sz="1000" b="1" dirty="0">
                <a:solidFill>
                  <a:srgbClr val="1F2937"/>
                </a:solidFill>
                <a:latin typeface="Calibri" pitchFamily="34" charset="0"/>
                <a:ea typeface="Calibri" pitchFamily="34" charset="-122"/>
                <a:cs typeface="Calibri" pitchFamily="34" charset="-120"/>
              </a:rPr>
              <a:t>🎓 Students (optional)</a:t>
            </a:r>
            <a:pPr indent="0" marL="0">
              <a:spcAft>
                <a:spcPts val="300"/>
              </a:spcAft>
              <a:buNone/>
            </a:pPr>
            <a:r>
              <a:rPr lang="en-US" sz="1000" dirty="0">
                <a:solidFill>
                  <a:srgbClr val="1F2937"/>
                </a:solidFill>
                <a:latin typeface="Calibri" pitchFamily="34" charset="0"/>
                <a:ea typeface="Calibri" pitchFamily="34" charset="-122"/>
                <a:cs typeface="Calibri" pitchFamily="34" charset="-120"/>
              </a:rPr>
              <a:t>: small fees for premium teacher modules (₹29–₹99)</a:t>
            </a:r>
            <a:endParaRPr lang="en-US" sz="1000" dirty="0"/>
          </a:p>
        </p:txBody>
      </p:sp>
      <p:sp>
        <p:nvSpPr>
          <p:cNvPr id="26" name="connector"/>
          <p:cNvSpPr/>
          <p:nvPr/>
        </p:nvSpPr>
        <p:spPr>
          <a:xfrm>
            <a:off x="5848960" y="3483864"/>
            <a:ext cx="493776" cy="914"/>
          </a:xfrm>
          <a:prstGeom prst="line">
            <a:avLst/>
          </a:prstGeom>
          <a:noFill/>
          <a:ln w="31750">
            <a:solidFill>
              <a:srgbClr val="64748B"/>
            </a:solidFill>
            <a:prstDash val="solid"/>
            <a:tailEnd type="triangle"/>
          </a:ln>
        </p:spPr>
      </p:sp>
      <p:sp>
        <p:nvSpPr>
          <p:cNvPr id="27" name="Text 24"/>
          <p:cNvSpPr txBox="1"/>
          <p:nvPr/>
        </p:nvSpPr>
        <p:spPr>
          <a:xfrm>
            <a:off x="5821528" y="3163824"/>
            <a:ext cx="548640" cy="228600"/>
          </a:xfrm>
          <a:prstGeom prst="rect">
            <a:avLst/>
          </a:prstGeom>
          <a:noFill/>
          <a:ln/>
        </p:spPr>
        <p:txBody>
          <a:bodyPr wrap="square" lIns="0" tIns="0" rIns="0" bIns="0" rtlCol="0" anchor="t"/>
          <a:lstStyle/>
          <a:p>
            <a:pPr algn="ctr" indent="0" marL="0">
              <a:buNone/>
            </a:pPr>
            <a:r>
              <a:rPr lang="en-US" sz="800" i="1" dirty="0">
                <a:solidFill>
                  <a:srgbClr val="64748B"/>
                </a:solidFill>
                <a:latin typeface="Calibri" pitchFamily="34" charset="0"/>
                <a:ea typeface="Calibri" pitchFamily="34" charset="-122"/>
                <a:cs typeface="Calibri" pitchFamily="34" charset="-120"/>
              </a:rPr>
              <a:t>value</a:t>
            </a:r>
            <a:endParaRPr lang="en-US" sz="800" dirty="0"/>
          </a:p>
        </p:txBody>
      </p:sp>
      <p:sp>
        <p:nvSpPr>
          <p:cNvPr id="28" name="early-adopters"/>
          <p:cNvSpPr/>
          <p:nvPr/>
        </p:nvSpPr>
        <p:spPr>
          <a:xfrm>
            <a:off x="548640" y="4636008"/>
            <a:ext cx="11094415" cy="457200"/>
          </a:xfrm>
          <a:prstGeom prst="roundRect">
            <a:avLst>
              <a:gd name="adj" fmla="val 16000"/>
            </a:avLst>
          </a:prstGeom>
          <a:solidFill>
            <a:srgbClr val="FFFFFF"/>
          </a:solidFill>
          <a:ln w="25400">
            <a:solidFill>
              <a:srgbClr val="C00000"/>
            </a:solidFill>
            <a:prstDash val="solid"/>
          </a:ln>
        </p:spPr>
      </p:sp>
      <p:sp>
        <p:nvSpPr>
          <p:cNvPr id="29" name="Text 26"/>
          <p:cNvSpPr txBox="1"/>
          <p:nvPr/>
        </p:nvSpPr>
        <p:spPr>
          <a:xfrm>
            <a:off x="685800" y="4636008"/>
            <a:ext cx="10820095" cy="457200"/>
          </a:xfrm>
          <a:prstGeom prst="rect">
            <a:avLst/>
          </a:prstGeom>
          <a:noFill/>
          <a:ln/>
        </p:spPr>
        <p:txBody>
          <a:bodyPr wrap="square" lIns="0" tIns="0" rIns="0" bIns="0" rtlCol="0" anchor="ctr"/>
          <a:lstStyle/>
          <a:p>
            <a:pPr indent="0" marL="0">
              <a:buNone/>
            </a:pPr>
            <a:r>
              <a:rPr lang="en-US" sz="950" b="1" dirty="0">
                <a:solidFill>
                  <a:srgbClr val="C00000"/>
                </a:solidFill>
                <a:latin typeface="Calibri" pitchFamily="34" charset="0"/>
                <a:ea typeface="Calibri" pitchFamily="34" charset="-122"/>
                <a:cs typeface="Calibri" pitchFamily="34" charset="-120"/>
              </a:rPr>
              <a:t>🎯 Early adopters:  </a:t>
            </a:r>
            <a:pPr indent="0" marL="0">
              <a:buNone/>
            </a:pPr>
            <a:r>
              <a:rPr lang="en-US" sz="950" dirty="0">
                <a:solidFill>
                  <a:srgbClr val="1F2937"/>
                </a:solidFill>
                <a:latin typeface="Calibri" pitchFamily="34" charset="0"/>
                <a:ea typeface="Calibri" pitchFamily="34" charset="-122"/>
                <a:cs typeface="Calibri" pitchFamily="34" charset="-120"/>
              </a:rPr>
              <a:t>Class 10–12 and ITI students in tribal districts of Jharkhand &amp; Odisha, via one NGO partner + ~50 schools/ITIs. First payers: Suryamitra / PMKVY training partners and FPOs that need accountants and drone operators.</a:t>
            </a:r>
            <a:endParaRPr lang="en-US" sz="950" dirty="0"/>
          </a:p>
        </p:txBody>
      </p:sp>
      <p:sp>
        <p:nvSpPr>
          <p:cNvPr id="30" name="card"/>
          <p:cNvSpPr/>
          <p:nvPr/>
        </p:nvSpPr>
        <p:spPr>
          <a:xfrm>
            <a:off x="548640" y="5184648"/>
            <a:ext cx="3576218" cy="960120"/>
          </a:xfrm>
          <a:prstGeom prst="roundRect">
            <a:avLst>
              <a:gd name="adj" fmla="val 7619"/>
            </a:avLst>
          </a:prstGeom>
          <a:solidFill>
            <a:srgbClr val="F8FAFC"/>
          </a:solidFill>
          <a:ln w="9525">
            <a:solidFill>
              <a:srgbClr val="E2E8F0"/>
            </a:solidFill>
            <a:prstDash val="solid"/>
          </a:ln>
        </p:spPr>
      </p:sp>
      <p:sp>
        <p:nvSpPr>
          <p:cNvPr id="31" name="icon-circle"/>
          <p:cNvSpPr/>
          <p:nvPr/>
        </p:nvSpPr>
        <p:spPr>
          <a:xfrm>
            <a:off x="640080" y="5431536"/>
            <a:ext cx="457200" cy="457200"/>
          </a:xfrm>
          <a:prstGeom prst="ellipse">
            <a:avLst/>
          </a:prstGeom>
          <a:solidFill>
            <a:srgbClr val="1E3A8A"/>
          </a:solidFill>
          <a:ln w="12700">
            <a:solidFill>
              <a:srgbClr val="1E3A8A"/>
            </a:solidFill>
            <a:prstDash val="solid"/>
          </a:ln>
        </p:spPr>
      </p:sp>
      <p:pic>
        <p:nvPicPr>
          <p:cNvPr id="32" name="icon" descr="preencoded.png">    </p:cNvPr>
          <p:cNvPicPr>
            <a:picLocks noChangeAspect="1"/>
          </p:cNvPicPr>
          <p:nvPr/>
        </p:nvPicPr>
        <p:blipFill>
          <a:blip r:embed="rId1"/>
          <a:stretch>
            <a:fillRect/>
          </a:stretch>
        </p:blipFill>
        <p:spPr>
          <a:xfrm>
            <a:off x="749808" y="5541264"/>
            <a:ext cx="237744" cy="237744"/>
          </a:xfrm>
          <a:prstGeom prst="rect">
            <a:avLst/>
          </a:prstGeom>
        </p:spPr>
      </p:pic>
      <p:sp>
        <p:nvSpPr>
          <p:cNvPr id="33" name="Text 29"/>
          <p:cNvSpPr txBox="1"/>
          <p:nvPr/>
        </p:nvSpPr>
        <p:spPr>
          <a:xfrm>
            <a:off x="1188720" y="5230368"/>
            <a:ext cx="2844698" cy="868680"/>
          </a:xfrm>
          <a:prstGeom prst="rect">
            <a:avLst/>
          </a:prstGeom>
          <a:noFill/>
          <a:ln/>
        </p:spPr>
        <p:txBody>
          <a:bodyPr wrap="square" lIns="0" tIns="0" rIns="0" bIns="0" rtlCol="0" anchor="ctr"/>
          <a:lstStyle/>
          <a:p>
            <a:pPr indent="0" marL="0">
              <a:buNone/>
            </a:pPr>
            <a:r>
              <a:rPr lang="en-US" sz="950" b="1" dirty="0">
                <a:solidFill>
                  <a:srgbClr val="1F2937"/>
                </a:solidFill>
                <a:latin typeface="Calibri" pitchFamily="34" charset="0"/>
                <a:ea typeface="Calibri" pitchFamily="34" charset="-122"/>
                <a:cs typeface="Calibri" pitchFamily="34" charset="-120"/>
              </a:rPr>
              <a:t>Rahul, 16, Class 10, Jharkhand (ST)</a:t>
            </a:r>
            <a:pPr indent="0" marL="0">
              <a:buNone/>
            </a:pPr>
            <a:endParaRPr lang="en-US" sz="950" dirty="0"/>
          </a:p>
          <a:p>
            <a:pPr indent="0" marL="0">
              <a:buNone/>
            </a:pPr>
            <a:r>
              <a:rPr lang="en-US" sz="850" dirty="0">
                <a:solidFill>
                  <a:srgbClr val="1F2937"/>
                </a:solidFill>
                <a:latin typeface="Calibri" pitchFamily="34" charset="0"/>
                <a:ea typeface="Calibri" pitchFamily="34" charset="-122"/>
                <a:cs typeface="Calibri" pitchFamily="34" charset="-120"/>
              </a:rPr>
              <a:t>Fixes the borewell pump, keeps the shop’s accounts; family needs income</a:t>
            </a:r>
            <a:endParaRPr lang="en-US" sz="950" dirty="0"/>
          </a:p>
          <a:p>
            <a:pPr indent="0" marL="0">
              <a:buNone/>
            </a:pPr>
            <a:endParaRPr lang="en-US" sz="950" dirty="0"/>
          </a:p>
          <a:p>
            <a:pPr indent="0" marL="0">
              <a:buNone/>
            </a:pPr>
            <a:r>
              <a:rPr lang="en-US" sz="850" i="1" dirty="0">
                <a:solidFill>
                  <a:srgbClr val="64748B"/>
                </a:solidFill>
                <a:latin typeface="Calibri" pitchFamily="34" charset="0"/>
                <a:ea typeface="Calibri" pitchFamily="34" charset="-122"/>
                <a:cs typeface="Calibri" pitchFamily="34" charset="-120"/>
              </a:rPr>
              <a:t>Need: a respected path with income soon (ITI → paid apprenticeship)</a:t>
            </a:r>
            <a:endParaRPr lang="en-US" sz="950" dirty="0"/>
          </a:p>
        </p:txBody>
      </p:sp>
      <p:sp>
        <p:nvSpPr>
          <p:cNvPr id="34" name="card"/>
          <p:cNvSpPr/>
          <p:nvPr/>
        </p:nvSpPr>
        <p:spPr>
          <a:xfrm>
            <a:off x="4307738" y="5184648"/>
            <a:ext cx="3576218" cy="960120"/>
          </a:xfrm>
          <a:prstGeom prst="roundRect">
            <a:avLst>
              <a:gd name="adj" fmla="val 7619"/>
            </a:avLst>
          </a:prstGeom>
          <a:solidFill>
            <a:srgbClr val="F8FAFC"/>
          </a:solidFill>
          <a:ln w="9525">
            <a:solidFill>
              <a:srgbClr val="E2E8F0"/>
            </a:solidFill>
            <a:prstDash val="solid"/>
          </a:ln>
        </p:spPr>
      </p:sp>
      <p:sp>
        <p:nvSpPr>
          <p:cNvPr id="35" name="icon-circle"/>
          <p:cNvSpPr/>
          <p:nvPr/>
        </p:nvSpPr>
        <p:spPr>
          <a:xfrm>
            <a:off x="4399178" y="5431536"/>
            <a:ext cx="457200" cy="457200"/>
          </a:xfrm>
          <a:prstGeom prst="ellipse">
            <a:avLst/>
          </a:prstGeom>
          <a:solidFill>
            <a:srgbClr val="1E3A8A"/>
          </a:solidFill>
          <a:ln w="12700">
            <a:solidFill>
              <a:srgbClr val="1E3A8A"/>
            </a:solidFill>
            <a:prstDash val="solid"/>
          </a:ln>
        </p:spPr>
      </p:sp>
      <p:pic>
        <p:nvPicPr>
          <p:cNvPr id="36" name="icon" descr="preencoded.png">    </p:cNvPr>
          <p:cNvPicPr>
            <a:picLocks noChangeAspect="1"/>
          </p:cNvPicPr>
          <p:nvPr/>
        </p:nvPicPr>
        <p:blipFill>
          <a:blip r:embed="rId2"/>
          <a:stretch>
            <a:fillRect/>
          </a:stretch>
        </p:blipFill>
        <p:spPr>
          <a:xfrm>
            <a:off x="4508906" y="5541264"/>
            <a:ext cx="237744" cy="237744"/>
          </a:xfrm>
          <a:prstGeom prst="rect">
            <a:avLst/>
          </a:prstGeom>
        </p:spPr>
      </p:pic>
      <p:sp>
        <p:nvSpPr>
          <p:cNvPr id="37" name="Text 32"/>
          <p:cNvSpPr txBox="1"/>
          <p:nvPr/>
        </p:nvSpPr>
        <p:spPr>
          <a:xfrm>
            <a:off x="4947818" y="5230368"/>
            <a:ext cx="2844698" cy="868680"/>
          </a:xfrm>
          <a:prstGeom prst="rect">
            <a:avLst/>
          </a:prstGeom>
          <a:noFill/>
          <a:ln/>
        </p:spPr>
        <p:txBody>
          <a:bodyPr wrap="square" lIns="0" tIns="0" rIns="0" bIns="0" rtlCol="0" anchor="ctr"/>
          <a:lstStyle/>
          <a:p>
            <a:pPr indent="0" marL="0">
              <a:buNone/>
            </a:pPr>
            <a:r>
              <a:rPr lang="en-US" sz="950" b="1" dirty="0">
                <a:solidFill>
                  <a:srgbClr val="1F2937"/>
                </a:solidFill>
                <a:latin typeface="Calibri" pitchFamily="34" charset="0"/>
                <a:ea typeface="Calibri" pitchFamily="34" charset="-122"/>
                <a:cs typeface="Calibri" pitchFamily="34" charset="-120"/>
              </a:rPr>
              <a:t>Sunita, 17, Class 12, Odisha</a:t>
            </a:r>
            <a:pPr indent="0" marL="0">
              <a:buNone/>
            </a:pPr>
            <a:endParaRPr lang="en-US" sz="950" dirty="0"/>
          </a:p>
          <a:p>
            <a:pPr indent="0" marL="0">
              <a:buNone/>
            </a:pPr>
            <a:r>
              <a:rPr lang="en-US" sz="850" dirty="0">
                <a:solidFill>
                  <a:srgbClr val="1F2937"/>
                </a:solidFill>
                <a:latin typeface="Calibri" pitchFamily="34" charset="0"/>
                <a:ea typeface="Calibri" pitchFamily="34" charset="-122"/>
                <a:cs typeface="Calibri" pitchFamily="34" charset="-120"/>
              </a:rPr>
              <a:t>Great at sewing and drawing; uses her mother’s phone</a:t>
            </a:r>
            <a:endParaRPr lang="en-US" sz="950" dirty="0"/>
          </a:p>
          <a:p>
            <a:pPr indent="0" marL="0">
              <a:buNone/>
            </a:pPr>
            <a:endParaRPr lang="en-US" sz="950" dirty="0"/>
          </a:p>
          <a:p>
            <a:pPr indent="0" marL="0">
              <a:buNone/>
            </a:pPr>
            <a:r>
              <a:rPr lang="en-US" sz="850" i="1" dirty="0">
                <a:solidFill>
                  <a:srgbClr val="64748B"/>
                </a:solidFill>
                <a:latin typeface="Calibri" pitchFamily="34" charset="0"/>
                <a:ea typeface="Calibri" pitchFamily="34" charset="-122"/>
                <a:cs typeface="Calibri" pitchFamily="34" charset="-120"/>
              </a:rPr>
              <a:t>Need: someone to notice her talent; a shared-phone-friendly app</a:t>
            </a:r>
            <a:endParaRPr lang="en-US" sz="950" dirty="0"/>
          </a:p>
        </p:txBody>
      </p:sp>
      <p:sp>
        <p:nvSpPr>
          <p:cNvPr id="38" name="card"/>
          <p:cNvSpPr/>
          <p:nvPr/>
        </p:nvSpPr>
        <p:spPr>
          <a:xfrm>
            <a:off x="8066837" y="5184648"/>
            <a:ext cx="3576218" cy="960120"/>
          </a:xfrm>
          <a:prstGeom prst="roundRect">
            <a:avLst>
              <a:gd name="adj" fmla="val 7619"/>
            </a:avLst>
          </a:prstGeom>
          <a:solidFill>
            <a:srgbClr val="F8FAFC"/>
          </a:solidFill>
          <a:ln w="9525">
            <a:solidFill>
              <a:srgbClr val="E2E8F0"/>
            </a:solidFill>
            <a:prstDash val="solid"/>
          </a:ln>
        </p:spPr>
      </p:sp>
      <p:sp>
        <p:nvSpPr>
          <p:cNvPr id="39" name="icon-circle"/>
          <p:cNvSpPr/>
          <p:nvPr/>
        </p:nvSpPr>
        <p:spPr>
          <a:xfrm>
            <a:off x="8158277" y="5431536"/>
            <a:ext cx="457200" cy="457200"/>
          </a:xfrm>
          <a:prstGeom prst="ellipse">
            <a:avLst/>
          </a:prstGeom>
          <a:solidFill>
            <a:srgbClr val="0D9488"/>
          </a:solidFill>
          <a:ln w="12700">
            <a:solidFill>
              <a:srgbClr val="0D9488"/>
            </a:solidFill>
            <a:prstDash val="solid"/>
          </a:ln>
        </p:spPr>
      </p:sp>
      <p:pic>
        <p:nvPicPr>
          <p:cNvPr id="40" name="icon" descr="preencoded.png">    </p:cNvPr>
          <p:cNvPicPr>
            <a:picLocks noChangeAspect="1"/>
          </p:cNvPicPr>
          <p:nvPr/>
        </p:nvPicPr>
        <p:blipFill>
          <a:blip r:embed="rId3"/>
          <a:stretch>
            <a:fillRect/>
          </a:stretch>
        </p:blipFill>
        <p:spPr>
          <a:xfrm>
            <a:off x="8268005" y="5541264"/>
            <a:ext cx="237744" cy="237744"/>
          </a:xfrm>
          <a:prstGeom prst="rect">
            <a:avLst/>
          </a:prstGeom>
        </p:spPr>
      </p:pic>
      <p:sp>
        <p:nvSpPr>
          <p:cNvPr id="41" name="Text 35"/>
          <p:cNvSpPr txBox="1"/>
          <p:nvPr/>
        </p:nvSpPr>
        <p:spPr>
          <a:xfrm>
            <a:off x="8706917" y="5230368"/>
            <a:ext cx="2844698" cy="868680"/>
          </a:xfrm>
          <a:prstGeom prst="rect">
            <a:avLst/>
          </a:prstGeom>
          <a:noFill/>
          <a:ln/>
        </p:spPr>
        <p:txBody>
          <a:bodyPr wrap="square" lIns="0" tIns="0" rIns="0" bIns="0" rtlCol="0" anchor="ctr"/>
          <a:lstStyle/>
          <a:p>
            <a:pPr indent="0" marL="0">
              <a:buNone/>
            </a:pPr>
            <a:r>
              <a:rPr lang="en-US" sz="950" b="1" dirty="0">
                <a:solidFill>
                  <a:srgbClr val="1F2937"/>
                </a:solidFill>
                <a:latin typeface="Calibri" pitchFamily="34" charset="0"/>
                <a:ea typeface="Calibri" pitchFamily="34" charset="-122"/>
                <a:cs typeface="Calibri" pitchFamily="34" charset="-120"/>
              </a:rPr>
              <a:t>Anita Ma’am, government-school teacher</a:t>
            </a:r>
            <a:pPr indent="0" marL="0">
              <a:buNone/>
            </a:pPr>
            <a:endParaRPr lang="en-US" sz="950" dirty="0"/>
          </a:p>
          <a:p>
            <a:pPr indent="0" marL="0">
              <a:buNone/>
            </a:pPr>
            <a:r>
              <a:rPr lang="en-US" sz="850" dirty="0">
                <a:solidFill>
                  <a:srgbClr val="1F2937"/>
                </a:solidFill>
                <a:latin typeface="Calibri" pitchFamily="34" charset="0"/>
                <a:ea typeface="Calibri" pitchFamily="34" charset="-122"/>
                <a:cs typeface="Calibri" pitchFamily="34" charset="-120"/>
              </a:rPr>
              <a:t>40 students, one smartphone</a:t>
            </a:r>
            <a:endParaRPr lang="en-US" sz="950" dirty="0"/>
          </a:p>
          <a:p>
            <a:pPr indent="0" marL="0">
              <a:buNone/>
            </a:pPr>
            <a:endParaRPr lang="en-US" sz="950" dirty="0"/>
          </a:p>
          <a:p>
            <a:pPr indent="0" marL="0">
              <a:buNone/>
            </a:pPr>
            <a:r>
              <a:rPr lang="en-US" sz="850" i="1" dirty="0">
                <a:solidFill>
                  <a:srgbClr val="64748B"/>
                </a:solidFill>
                <a:latin typeface="Calibri" pitchFamily="34" charset="0"/>
                <a:ea typeface="Calibri" pitchFamily="34" charset="-122"/>
                <a:cs typeface="Calibri" pitchFamily="34" charset="-120"/>
              </a:rPr>
              <a:t>Need: spot talent, recommend students, earn by teaching skills</a:t>
            </a:r>
            <a:endParaRPr lang="en-US" sz="950" dirty="0"/>
          </a:p>
        </p:txBody>
      </p:sp>
      <p:sp>
        <p:nvSpPr>
          <p:cNvPr id="42" name="Text 36"/>
          <p:cNvSpPr txBox="1"/>
          <p:nvPr/>
        </p:nvSpPr>
        <p:spPr>
          <a:xfrm>
            <a:off x="548640" y="6217920"/>
            <a:ext cx="11094415" cy="237744"/>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Source: UNICEF India; Census of India 2011; National CSR Portal FY23; DGT notification on NAPS-2 stipend support; NITI Aayog ITI study (2023).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Yukti — Lean Canvas Pitch Deck</dc:title>
  <dc:subject>PptxGenJS Presentation</dc:subject>
  <dc:creator>Yukti Team</dc:creator>
  <cp:lastModifiedBy>Yukti Team</cp:lastModifiedBy>
  <cp:revision>1</cp:revision>
  <dcterms:created xsi:type="dcterms:W3CDTF">2026-10-18T07:26:07Z</dcterms:created>
  <dcterms:modified xsi:type="dcterms:W3CDTF">2026-10-18T07:26:07Z</dcterms:modified>
</cp:coreProperties>
</file>